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aca3ace20b4257" /><Relationship Type="http://schemas.openxmlformats.org/officeDocument/2006/relationships/extended-properties" Target="/docProps/app.xml" Id="R314c5a2f0878462c" /><Relationship Type="http://schemas.openxmlformats.org/officeDocument/2006/relationships/officeDocument" Target="/ppt/presentation.xml" Id="R9474326f1177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5c80ea89247bd"/>
  </p:sldMasterIdLst>
  <p:notesMasterIdLst>
    <p:notesMasterId xmlns:r="http://schemas.openxmlformats.org/officeDocument/2006/relationships" r:id="Rcff2d89abd2c4b99"/>
  </p:notesMasterIdLst>
  <p:sldIdLst>
    <p:sldId xmlns:r="http://schemas.openxmlformats.org/officeDocument/2006/relationships" id="256" r:id="R5594b2182b544ff7"/>
    <p:sldId xmlns:r="http://schemas.openxmlformats.org/officeDocument/2006/relationships" id="257" r:id="R171d6445789549eb"/>
    <p:sldId xmlns:r="http://schemas.openxmlformats.org/officeDocument/2006/relationships" id="258" r:id="R0f048becfb274790"/>
    <p:sldId xmlns:r="http://schemas.openxmlformats.org/officeDocument/2006/relationships" id="259" r:id="R2d7a9d3cb8a648b0"/>
    <p:sldId xmlns:r="http://schemas.openxmlformats.org/officeDocument/2006/relationships" id="260" r:id="Rac5a032a99484aad"/>
    <p:sldId xmlns:r="http://schemas.openxmlformats.org/officeDocument/2006/relationships" id="261" r:id="R8ca8a6eb857148ae"/>
    <p:sldId xmlns:r="http://schemas.openxmlformats.org/officeDocument/2006/relationships" id="262" r:id="R01559c2271cb42d6"/>
    <p:sldId xmlns:r="http://schemas.openxmlformats.org/officeDocument/2006/relationships" id="263" r:id="R29be338958b44257"/>
    <p:sldId xmlns:r="http://schemas.openxmlformats.org/officeDocument/2006/relationships" id="264" r:id="R35b62c74eb7c42b8"/>
    <p:sldId xmlns:r="http://schemas.openxmlformats.org/officeDocument/2006/relationships" id="265" r:id="R38a32af2df2a4e10"/>
    <p:sldId xmlns:r="http://schemas.openxmlformats.org/officeDocument/2006/relationships" id="266" r:id="Re02d17ed7a8d4584"/>
    <p:sldId xmlns:r="http://schemas.openxmlformats.org/officeDocument/2006/relationships" id="267" r:id="R9e1bccdb3766417f"/>
    <p:sldId xmlns:r="http://schemas.openxmlformats.org/officeDocument/2006/relationships" id="268" r:id="R62a8b94d2a224df0"/>
    <p:sldId xmlns:r="http://schemas.openxmlformats.org/officeDocument/2006/relationships" id="269" r:id="R07478558c69c4ebe"/>
    <p:sldId xmlns:r="http://schemas.openxmlformats.org/officeDocument/2006/relationships" id="270" r:id="Re493c280dec6407a"/>
    <p:sldId xmlns:r="http://schemas.openxmlformats.org/officeDocument/2006/relationships" id="271" r:id="R5b7915ce63ef4a7c"/>
    <p:sldId xmlns:r="http://schemas.openxmlformats.org/officeDocument/2006/relationships" id="272" r:id="Rffef61d9dd1b4f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ba039e233145e5" /><Relationship Type="http://schemas.openxmlformats.org/officeDocument/2006/relationships/slideMaster" Target="/ppt/slideMasters/slideMaster1.xml" Id="Rfa55c80ea89247bd" /><Relationship Type="http://schemas.openxmlformats.org/officeDocument/2006/relationships/notesMaster" Target="/ppt/notesMasters/notesMaster1.xml" Id="Rcff2d89abd2c4b99" /><Relationship Type="http://schemas.openxmlformats.org/officeDocument/2006/relationships/presProps" Target="/ppt/presProps.xml" Id="R0d36f073f1f446ca" /><Relationship Type="http://schemas.openxmlformats.org/officeDocument/2006/relationships/tableStyles" Target="/ppt/tableStyles.xml" Id="R0f3cefb475f24cb9" /><Relationship Type="http://schemas.openxmlformats.org/officeDocument/2006/relationships/slide" Target="/ppt/slides/slide1.xml" Id="R5594b2182b544ff7" /><Relationship Type="http://schemas.openxmlformats.org/officeDocument/2006/relationships/slide" Target="/ppt/slides/slide2.xml" Id="R171d6445789549eb" /><Relationship Type="http://schemas.openxmlformats.org/officeDocument/2006/relationships/slide" Target="/ppt/slides/slide3.xml" Id="R0f048becfb274790" /><Relationship Type="http://schemas.openxmlformats.org/officeDocument/2006/relationships/slide" Target="/ppt/slides/slide4.xml" Id="R2d7a9d3cb8a648b0" /><Relationship Type="http://schemas.openxmlformats.org/officeDocument/2006/relationships/slide" Target="/ppt/slides/slide5.xml" Id="Rac5a032a99484aad" /><Relationship Type="http://schemas.openxmlformats.org/officeDocument/2006/relationships/slide" Target="/ppt/slides/slide6.xml" Id="R8ca8a6eb857148ae" /><Relationship Type="http://schemas.openxmlformats.org/officeDocument/2006/relationships/slide" Target="/ppt/slides/slide7.xml" Id="R01559c2271cb42d6" /><Relationship Type="http://schemas.openxmlformats.org/officeDocument/2006/relationships/slide" Target="/ppt/slides/slide8.xml" Id="R29be338958b44257" /><Relationship Type="http://schemas.openxmlformats.org/officeDocument/2006/relationships/slide" Target="/ppt/slides/slide9.xml" Id="R35b62c74eb7c42b8" /><Relationship Type="http://schemas.openxmlformats.org/officeDocument/2006/relationships/slide" Target="/ppt/slides/slide10.xml" Id="R38a32af2df2a4e10" /><Relationship Type="http://schemas.openxmlformats.org/officeDocument/2006/relationships/slide" Target="/ppt/slides/slide11.xml" Id="Re02d17ed7a8d4584" /><Relationship Type="http://schemas.openxmlformats.org/officeDocument/2006/relationships/slide" Target="/ppt/slides/slide12.xml" Id="R9e1bccdb3766417f" /><Relationship Type="http://schemas.openxmlformats.org/officeDocument/2006/relationships/slide" Target="/ppt/slides/slide13.xml" Id="R62a8b94d2a224df0" /><Relationship Type="http://schemas.openxmlformats.org/officeDocument/2006/relationships/slide" Target="/ppt/slides/slide14.xml" Id="R07478558c69c4ebe" /><Relationship Type="http://schemas.openxmlformats.org/officeDocument/2006/relationships/slide" Target="/ppt/slides/slide15.xml" Id="Re493c280dec6407a" /><Relationship Type="http://schemas.openxmlformats.org/officeDocument/2006/relationships/slide" Target="/ppt/slides/slide16.xml" Id="R5b7915ce63ef4a7c" /><Relationship Type="http://schemas.openxmlformats.org/officeDocument/2006/relationships/slide" Target="/ppt/slides/slide17.xml" Id="Rffef61d9dd1b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9662a207e94b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fe8f47a0241d7" /><Relationship Type="http://schemas.openxmlformats.org/officeDocument/2006/relationships/notesMaster" Target="/ppt/notesMasters/notesMaster1.xml" Id="R4303d62bfece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86bac48004617" /><Relationship Type="http://schemas.openxmlformats.org/officeDocument/2006/relationships/notesMaster" Target="/ppt/notesMasters/notesMaster1.xml" Id="Rb1aac415f04846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194fe01e564ec2" /><Relationship Type="http://schemas.openxmlformats.org/officeDocument/2006/relationships/notesMaster" Target="/ppt/notesMasters/notesMaster1.xml" Id="R7c00e845dc91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0fc0baf4f945ca" /><Relationship Type="http://schemas.openxmlformats.org/officeDocument/2006/relationships/notesMaster" Target="/ppt/notesMasters/notesMaster1.xml" Id="R573c38e7f86e4a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efb090bd674bb8" /><Relationship Type="http://schemas.openxmlformats.org/officeDocument/2006/relationships/notesMaster" Target="/ppt/notesMasters/notesMaster1.xml" Id="Rcf300aa7e14e4b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1fd8281304b52" /><Relationship Type="http://schemas.openxmlformats.org/officeDocument/2006/relationships/notesMaster" Target="/ppt/notesMasters/notesMaster1.xml" Id="R106f28154a3042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15be66a8e14a03" /><Relationship Type="http://schemas.openxmlformats.org/officeDocument/2006/relationships/notesMaster" Target="/ppt/notesMasters/notesMaster1.xml" Id="R1180893edc004a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d17428f3da4503" /><Relationship Type="http://schemas.openxmlformats.org/officeDocument/2006/relationships/notesMaster" Target="/ppt/notesMasters/notesMaster1.xml" Id="Reef3c80e63f84f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49f6e29f2b4de0" /><Relationship Type="http://schemas.openxmlformats.org/officeDocument/2006/relationships/notesMaster" Target="/ppt/notesMasters/notesMaster1.xml" Id="R37e3583ea2a648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b09f8cb66a44d9" /><Relationship Type="http://schemas.openxmlformats.org/officeDocument/2006/relationships/notesMaster" Target="/ppt/notesMasters/notesMaster1.xml" Id="R3321e613b0954f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be22ce79d149e7" /><Relationship Type="http://schemas.openxmlformats.org/officeDocument/2006/relationships/notesMaster" Target="/ppt/notesMasters/notesMaster1.xml" Id="R9da84709ccac4d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848f5fbc214db4" /><Relationship Type="http://schemas.openxmlformats.org/officeDocument/2006/relationships/notesMaster" Target="/ppt/notesMasters/notesMaster1.xml" Id="Redbcf6c9cb6a4e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5594d2fdb64d31" /><Relationship Type="http://schemas.openxmlformats.org/officeDocument/2006/relationships/notesMaster" Target="/ppt/notesMasters/notesMaster1.xml" Id="R2bca59aaf81d46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9de0c2fecb4b30" /><Relationship Type="http://schemas.openxmlformats.org/officeDocument/2006/relationships/notesMaster" Target="/ppt/notesMasters/notesMaster1.xml" Id="R33d7d70586d349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8f43d198654d16" /><Relationship Type="http://schemas.openxmlformats.org/officeDocument/2006/relationships/notesMaster" Target="/ppt/notesMasters/notesMaster1.xml" Id="R99bf05dd957942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d40eee1a1e49f7" /><Relationship Type="http://schemas.openxmlformats.org/officeDocument/2006/relationships/notesMaster" Target="/ppt/notesMasters/notesMaster1.xml" Id="R73d53cadf89248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7c3b37cde24480" /><Relationship Type="http://schemas.openxmlformats.org/officeDocument/2006/relationships/notesMaster" Target="/ppt/notesMasters/notesMaster1.xml" Id="Rba5927347ed9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b12cb4201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112a74558d473e" /><Relationship Type="http://schemas.openxmlformats.org/officeDocument/2006/relationships/slideLayout" Target="/ppt/slideLayouts/slideLayout1.xml" Id="Rd61b5746b83a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1b5746b83a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2abb2bdbc4dae" /><Relationship Type="http://schemas.openxmlformats.org/officeDocument/2006/relationships/image" Target="/ppt/media/image.jpeg" Id="R3fc7d74434b54a38" /><Relationship Type="http://schemas.openxmlformats.org/officeDocument/2006/relationships/notesSlide" Target="/ppt/notesSlides/notesSlide1.xml" Id="R2ef34662454743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0fa08d9eb4d3b" /><Relationship Type="http://schemas.openxmlformats.org/officeDocument/2006/relationships/notesSlide" Target="/ppt/notesSlides/notesSlide2.xml" Id="Rc5d69a67c786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bace583e4442e" /><Relationship Type="http://schemas.openxmlformats.org/officeDocument/2006/relationships/notesSlide" Target="/ppt/notesSlides/notesSlide3.xml" Id="R49501913bdce42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0449296e84d74" /><Relationship Type="http://schemas.openxmlformats.org/officeDocument/2006/relationships/notesSlide" Target="/ppt/notesSlides/notesSlide4.xml" Id="R997a3331bc2d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bad0ac6354d1f" /><Relationship Type="http://schemas.openxmlformats.org/officeDocument/2006/relationships/notesSlide" Target="/ppt/notesSlides/notesSlide5.xml" Id="Rd622118baf88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d99ffd0f34906" /><Relationship Type="http://schemas.openxmlformats.org/officeDocument/2006/relationships/image" Target="/ppt/media/image2.jpeg" Id="R40da73d143cf4047" /><Relationship Type="http://schemas.openxmlformats.org/officeDocument/2006/relationships/notesSlide" Target="/ppt/notesSlides/notesSlide6.xml" Id="Rd325cf1a16fa44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22c7cce904436" /><Relationship Type="http://schemas.openxmlformats.org/officeDocument/2006/relationships/image" Target="/ppt/media/image3.jpeg" Id="R1cd4e6a68c0642f7" /><Relationship Type="http://schemas.openxmlformats.org/officeDocument/2006/relationships/notesSlide" Target="/ppt/notesSlides/notesSlide7.xml" Id="R5066d340653d46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d42be60ba4cdd" /><Relationship Type="http://schemas.openxmlformats.org/officeDocument/2006/relationships/notesSlide" Target="/ppt/notesSlides/notesSlide8.xml" Id="Rc22aabb20f484a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0bf971cec459b" /><Relationship Type="http://schemas.openxmlformats.org/officeDocument/2006/relationships/image" Target="/ppt/media/image4.jpeg" Id="R87428c06c2fa42bd" /><Relationship Type="http://schemas.openxmlformats.org/officeDocument/2006/relationships/notesSlide" Target="/ppt/notesSlides/notesSlide9.xml" Id="Rb9a7017d87394a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4240c9c9b49fd" /><Relationship Type="http://schemas.openxmlformats.org/officeDocument/2006/relationships/chart" Target="/ppt/slides/charts/chart1.xml" Id="R4098b6e36acc4b88" /><Relationship Type="http://schemas.openxmlformats.org/officeDocument/2006/relationships/notesSlide" Target="/ppt/notesSlides/notesSlide10.xml" Id="R9473074e05504b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7e91754545c3" /><Relationship Type="http://schemas.openxmlformats.org/officeDocument/2006/relationships/notesSlide" Target="/ppt/notesSlides/notesSlide11.xml" Id="Rbf5a4aa981e148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d77f785864b4d" /><Relationship Type="http://schemas.openxmlformats.org/officeDocument/2006/relationships/image" Target="/ppt/media/image5.jpeg" Id="R77f6daeb24c84328" /><Relationship Type="http://schemas.openxmlformats.org/officeDocument/2006/relationships/notesSlide" Target="/ppt/notesSlides/notesSlide12.xml" Id="R45c41108cef44a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ef923b4c4cf1" /><Relationship Type="http://schemas.openxmlformats.org/officeDocument/2006/relationships/notesSlide" Target="/ppt/notesSlides/notesSlide13.xml" Id="Re2bf8bb6b0b646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4f4ce88ad4ff3" /><Relationship Type="http://schemas.openxmlformats.org/officeDocument/2006/relationships/image" Target="/ppt/media/image6.jpeg" Id="R7386f5a0bc7f44c8" /><Relationship Type="http://schemas.openxmlformats.org/officeDocument/2006/relationships/notesSlide" Target="/ppt/notesSlides/notesSlide14.xml" Id="R02565c96b28248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04d73824b4b04" /><Relationship Type="http://schemas.openxmlformats.org/officeDocument/2006/relationships/notesSlide" Target="/ppt/notesSlides/notesSlide15.xml" Id="R0a68e06928714e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2e2a890740e0" /><Relationship Type="http://schemas.openxmlformats.org/officeDocument/2006/relationships/notesSlide" Target="/ppt/notesSlides/notesSlide16.xml" Id="R88d900b8c33849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64a2a0784b23" /><Relationship Type="http://schemas.openxmlformats.org/officeDocument/2006/relationships/notesSlide" Target="/ppt/notesSlides/notesSlide17.xml" Id="R6f0538157288475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Human baseline</c:v>
              </c:pt>
              <c:pt idx="1">
                <c:v>NEXUS target</c:v>
              </c:pt>
            </c:strLit>
          </c:cat>
          <c:val>
            <c:numLit>
              <c:formatCode>General</c:formatCode>
              <c:ptCount val="2"/>
              <c:pt idx="0">
                <c:v>45</c:v>
              </c:pt>
              <c:pt idx="1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8C1243A4-87AE-41C6-8471-44C5CFE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band">
            <a:extLst xmlns:a="http://schemas.openxmlformats.org/drawingml/2006/main">
              <a:ext uri="{FF2B5EF4-FFF2-40B4-BE49-F238E27FC236}">
                <a16:creationId xmlns:a16="http://schemas.microsoft.com/office/drawing/2014/main" id="{7E0ABE10-438E-4808-9069-13458C3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0"/>
            <a:ext cx="436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mark">
            <a:extLst xmlns:a="http://schemas.openxmlformats.org/drawingml/2006/main">
              <a:ext uri="{FF2B5EF4-FFF2-40B4-BE49-F238E27FC236}">
                <a16:creationId xmlns:a16="http://schemas.microsoft.com/office/drawing/2014/main" id="{9B1BEB6A-9C23-4458-9145-6FDEF6AD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399AF539-C2B3-4546-852E-DA26E1D3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NEXUS-RESOLVE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1BDEBF-B49E-4329-BAA1-C994DCB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239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to use NEXUS-RESOLVE completely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05638F5-DD88-41A6-8BCB-0969456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6191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Run the hackathon project end to end: local setup, replay and live modes, approval-gated mock remediation, OpenAI proof, ServiceNow evidence, audit export, and judge demo flow.</a:t>
            </a:r>
          </a:p>
        </p:txBody>
      </p:sp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49A1AB6-67E7-477A-A996-83E9F5F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usage guide</a:t>
            </a:r>
          </a:p>
        </p:txBody>
      </p:sp>
      <p:sp>
        <p:nvSpPr>
          <p:cNvPr id="8" name="stack">
            <a:extLst xmlns:a="http://schemas.openxmlformats.org/drawingml/2006/main">
              <a:ext uri="{FF2B5EF4-FFF2-40B4-BE49-F238E27FC236}">
                <a16:creationId xmlns:a16="http://schemas.microsoft.com/office/drawing/2014/main" id="{C5E053D8-817D-4837-964A-5574B33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6675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FastAPI + React + OpenAI Responses API</a:t>
            </a:r>
          </a:p>
        </p:txBody>
      </p:sp>
      <p:sp>
        <p:nvSpPr>
          <p:cNvPr id="9" name="safety">
            <a:extLst xmlns:a="http://schemas.openxmlformats.org/drawingml/2006/main">
              <a:ext uri="{FF2B5EF4-FFF2-40B4-BE49-F238E27FC236}">
                <a16:creationId xmlns:a16="http://schemas.microsoft.com/office/drawing/2014/main" id="{192A9DEA-5D0B-4778-83F3-E4373FD2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data only. No real host execution.</a:t>
            </a:r>
          </a:p>
        </p:txBody>
      </p:sp>
      <p:sp>
        <p:nvSpPr>
          <p:cNvPr id="10" name="visual-frame">
            <a:extLst xmlns:a="http://schemas.openxmlformats.org/drawingml/2006/main">
              <a:ext uri="{FF2B5EF4-FFF2-40B4-BE49-F238E27FC236}">
                <a16:creationId xmlns:a16="http://schemas.microsoft.com/office/drawing/2014/main" id="{95050F33-E4AA-4229-9F11-B12C2151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3028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ooter-1">
            <a:extLst xmlns:a="http://schemas.openxmlformats.org/drawingml/2006/main">
              <a:ext uri="{FF2B5EF4-FFF2-40B4-BE49-F238E27FC236}">
                <a16:creationId xmlns:a16="http://schemas.microsoft.com/office/drawing/2014/main" id="{EA62C77D-43C7-4C64-8A2C-6FE23D61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7d74434b54a38"/>
          <a:srcRect xmlns:a="http://schemas.openxmlformats.org/drawingml/2006/main" l="0" t="19147" r="0" b="19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2628900"/>
            <a:ext cx="2724150" cy="2171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92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7C0E75E6-B901-4FCC-B107-C6A593C9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EEEEF-F215-489A-BA18-24BDDAA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this deck teaches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1. Start-panel">
            <a:extLst xmlns:a="http://schemas.openxmlformats.org/drawingml/2006/main">
              <a:ext uri="{FF2B5EF4-FFF2-40B4-BE49-F238E27FC236}">
                <a16:creationId xmlns:a16="http://schemas.microsoft.com/office/drawing/2014/main" id="{D3925EBB-8CC6-45F7-98C8-26748D6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1. Start-label">
            <a:extLst xmlns:a="http://schemas.openxmlformats.org/drawingml/2006/main">
              <a:ext uri="{FF2B5EF4-FFF2-40B4-BE49-F238E27FC236}">
                <a16:creationId xmlns:a16="http://schemas.microsoft.com/office/drawing/2014/main" id="{35B7F98D-36AF-4428-ACB8-48BBE62F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Start</a:t>
            </a:r>
          </a:p>
        </p:txBody>
      </p:sp>
      <p:sp>
        <p:nvSpPr>
          <p:cNvPr id="6" name="1. Start-body">
            <a:extLst xmlns:a="http://schemas.openxmlformats.org/drawingml/2006/main">
              <a:ext uri="{FF2B5EF4-FFF2-40B4-BE49-F238E27FC236}">
                <a16:creationId xmlns:a16="http://schemas.microsoft.com/office/drawing/2014/main" id="{4FED49EB-EAA5-4380-9963-05BB6E8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Install prerequisites, copy .env for live mode, and launch the local demo with the one-command script.</a:t>
            </a:r>
          </a:p>
        </p:txBody>
      </p:sp>
      <p:sp>
        <p:nvSpPr>
          <p:cNvPr id="7" name="2. Operate-panel">
            <a:extLst xmlns:a="http://schemas.openxmlformats.org/drawingml/2006/main">
              <a:ext uri="{FF2B5EF4-FFF2-40B4-BE49-F238E27FC236}">
                <a16:creationId xmlns:a16="http://schemas.microsoft.com/office/drawing/2014/main" id="{FC3A8BBA-73FC-45E0-845E-C33AFE75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2. Operate-label">
            <a:extLst xmlns:a="http://schemas.openxmlformats.org/drawingml/2006/main">
              <a:ext uri="{FF2B5EF4-FFF2-40B4-BE49-F238E27FC236}">
                <a16:creationId xmlns:a16="http://schemas.microsoft.com/office/drawing/2014/main" id="{1FCD98AD-EA29-48D9-BD8C-61C04E9E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Operate</a:t>
            </a:r>
          </a:p>
        </p:txBody>
      </p:sp>
      <p:sp>
        <p:nvSpPr>
          <p:cNvPr id="9" name="2. Operate-body">
            <a:extLst xmlns:a="http://schemas.openxmlformats.org/drawingml/2006/main">
              <a:ext uri="{FF2B5EF4-FFF2-40B4-BE49-F238E27FC236}">
                <a16:creationId xmlns:a16="http://schemas.microsoft.com/office/drawing/2014/main" id="{05AB45B9-7FFE-44DA-B82B-C3EBF1C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dashboard to select a synthetic incident, start simulation, review evidence, approve, validate, and close.</a:t>
            </a:r>
          </a:p>
        </p:txBody>
      </p:sp>
      <p:sp>
        <p:nvSpPr>
          <p:cNvPr id="10" name="3. Prove-panel">
            <a:extLst xmlns:a="http://schemas.openxmlformats.org/drawingml/2006/main">
              <a:ext uri="{FF2B5EF4-FFF2-40B4-BE49-F238E27FC236}">
                <a16:creationId xmlns:a16="http://schemas.microsoft.com/office/drawing/2014/main" id="{91EBAD26-39BA-42EF-8324-DEC16285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3. Prove-label">
            <a:extLst xmlns:a="http://schemas.openxmlformats.org/drawingml/2006/main">
              <a:ext uri="{FF2B5EF4-FFF2-40B4-BE49-F238E27FC236}">
                <a16:creationId xmlns:a16="http://schemas.microsoft.com/office/drawing/2014/main" id="{17C6A722-E785-46E5-B67B-B8C63B92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Prove</a:t>
            </a:r>
          </a:p>
        </p:txBody>
      </p:sp>
      <p:sp>
        <p:nvSpPr>
          <p:cNvPr id="12" name="3. Prove-body">
            <a:extLst xmlns:a="http://schemas.openxmlformats.org/drawingml/2006/main">
              <a:ext uri="{FF2B5EF4-FFF2-40B4-BE49-F238E27FC236}">
                <a16:creationId xmlns:a16="http://schemas.microsoft.com/office/drawing/2014/main" id="{77C46D1A-C1A8-473B-921D-454AD05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Show live OpenAI tool-loop proof, ServiceNow work-note preview, audit packet/PDF, and E2E browser verification.</a:t>
            </a:r>
          </a:p>
        </p:txBody>
      </p:sp>
      <p:sp>
        <p:nvSpPr>
          <p:cNvPr id="13" name="4. Explain-panel">
            <a:extLst xmlns:a="http://schemas.openxmlformats.org/drawingml/2006/main">
              <a:ext uri="{FF2B5EF4-FFF2-40B4-BE49-F238E27FC236}">
                <a16:creationId xmlns:a16="http://schemas.microsoft.com/office/drawing/2014/main" id="{50E81C78-C8DD-42C8-8DDB-FF29F66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4. Explain-label">
            <a:extLst xmlns:a="http://schemas.openxmlformats.org/drawingml/2006/main">
              <a:ext uri="{FF2B5EF4-FFF2-40B4-BE49-F238E27FC236}">
                <a16:creationId xmlns:a16="http://schemas.microsoft.com/office/drawing/2014/main" id="{1E5B8BEF-3790-40EF-AE5F-CF195AEC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 Explain</a:t>
            </a:r>
          </a:p>
        </p:txBody>
      </p:sp>
      <p:sp>
        <p:nvSpPr>
          <p:cNvPr id="15" name="4. Explain-body">
            <a:extLst xmlns:a="http://schemas.openxmlformats.org/drawingml/2006/main">
              <a:ext uri="{FF2B5EF4-FFF2-40B4-BE49-F238E27FC236}">
                <a16:creationId xmlns:a16="http://schemas.microsoft.com/office/drawing/2014/main" id="{B4289B3C-250D-400F-99BB-74B51CDB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 the safety model clearly: policy gate, human approval, mock execution, validation, and explicit closure.</a:t>
            </a:r>
          </a:p>
        </p:txBody>
      </p:sp>
      <p:sp>
        <p:nvSpPr>
          <p:cNvPr id="16" name="5. Demo-panel">
            <a:extLst xmlns:a="http://schemas.openxmlformats.org/drawingml/2006/main">
              <a:ext uri="{FF2B5EF4-FFF2-40B4-BE49-F238E27FC236}">
                <a16:creationId xmlns:a16="http://schemas.microsoft.com/office/drawing/2014/main" id="{F2C3D34F-20B0-43B1-A7E8-F97F4A39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5. Demo-label">
            <a:extLst xmlns:a="http://schemas.openxmlformats.org/drawingml/2006/main">
              <a:ext uri="{FF2B5EF4-FFF2-40B4-BE49-F238E27FC236}">
                <a16:creationId xmlns:a16="http://schemas.microsoft.com/office/drawing/2014/main" id="{07C6568B-05A4-4B1E-ABC7-66CA1D2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5. Demo</a:t>
            </a:r>
          </a:p>
        </p:txBody>
      </p:sp>
      <p:sp>
        <p:nvSpPr>
          <p:cNvPr id="18" name="5. Demo-body">
            <a:extLst xmlns:a="http://schemas.openxmlformats.org/drawingml/2006/main">
              <a:ext uri="{FF2B5EF4-FFF2-40B4-BE49-F238E27FC236}">
                <a16:creationId xmlns:a16="http://schemas.microsoft.com/office/drawing/2014/main" id="{4DFD7E29-B096-4EEB-9AF1-B218C9ED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judge console for frontend plus backend evidence and keep public Pages as replay-only.</a:t>
            </a:r>
          </a:p>
        </p:txBody>
      </p:sp>
      <p:sp>
        <p:nvSpPr>
          <p:cNvPr id="19" name="6. Troubleshoot-panel">
            <a:extLst xmlns:a="http://schemas.openxmlformats.org/drawingml/2006/main">
              <a:ext uri="{FF2B5EF4-FFF2-40B4-BE49-F238E27FC236}">
                <a16:creationId xmlns:a16="http://schemas.microsoft.com/office/drawing/2014/main" id="{A00BEB39-449F-484B-91D5-134AEA6C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6. Troubleshoot-label">
            <a:extLst xmlns:a="http://schemas.openxmlformats.org/drawingml/2006/main">
              <a:ext uri="{FF2B5EF4-FFF2-40B4-BE49-F238E27FC236}">
                <a16:creationId xmlns:a16="http://schemas.microsoft.com/office/drawing/2014/main" id="{BE2ADBA9-90B6-4D86-9EC2-17189A3E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6. Troubleshoot</a:t>
            </a:r>
          </a:p>
        </p:txBody>
      </p:sp>
      <p:sp>
        <p:nvSpPr>
          <p:cNvPr id="21" name="6. Troubleshoot-body">
            <a:extLst xmlns:a="http://schemas.openxmlformats.org/drawingml/2006/main">
              <a:ext uri="{FF2B5EF4-FFF2-40B4-BE49-F238E27FC236}">
                <a16:creationId xmlns:a16="http://schemas.microsoft.com/office/drawing/2014/main" id="{C79FA8CF-F869-40E2-81F9-06D93D4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Know which ports, scripts, modes, and API credentials matter during a live presentation.</a:t>
            </a:r>
          </a:p>
        </p:txBody>
      </p:sp>
      <p:sp>
        <p:nvSpPr>
          <p:cNvPr id="22" name="footer-2">
            <a:extLst xmlns:a="http://schemas.openxmlformats.org/drawingml/2006/main">
              <a:ext uri="{FF2B5EF4-FFF2-40B4-BE49-F238E27FC236}">
                <a16:creationId xmlns:a16="http://schemas.microsoft.com/office/drawing/2014/main" id="{C7EB0303-071D-43DD-AAD3-945874C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0790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BDFA7A85-DFFF-4CE3-877B-459A64B2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DC1E2A-C69D-4CD3-B79E-9B524EA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mental model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play mode-panel">
            <a:extLst xmlns:a="http://schemas.openxmlformats.org/drawingml/2006/main">
              <a:ext uri="{FF2B5EF4-FFF2-40B4-BE49-F238E27FC236}">
                <a16:creationId xmlns:a16="http://schemas.microsoft.com/office/drawing/2014/main" id="{243A5998-3966-476F-856F-32CB499A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314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play mode-label">
            <a:extLst xmlns:a="http://schemas.openxmlformats.org/drawingml/2006/main">
              <a:ext uri="{FF2B5EF4-FFF2-40B4-BE49-F238E27FC236}">
                <a16:creationId xmlns:a16="http://schemas.microsoft.com/office/drawing/2014/main" id="{1EAAE2D3-4FA8-4440-BC4E-716CEFA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mode</a:t>
            </a:r>
          </a:p>
        </p:txBody>
      </p:sp>
      <p:sp>
        <p:nvSpPr>
          <p:cNvPr id="6" name="Replay mode-body">
            <a:extLst xmlns:a="http://schemas.openxmlformats.org/drawingml/2006/main">
              <a:ext uri="{FF2B5EF4-FFF2-40B4-BE49-F238E27FC236}">
                <a16:creationId xmlns:a16="http://schemas.microsoft.com/office/drawing/2014/main" id="{3CF794AF-9FFB-44BE-B5E4-6646769F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895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Static JSONL replay. Works on GitHub Pages. No backend, no OpenAI key, no secrets.</a:t>
            </a:r>
          </a:p>
        </p:txBody>
      </p:sp>
      <p:sp>
        <p:nvSpPr>
          <p:cNvPr id="7" name="Local live mode-panel">
            <a:extLst xmlns:a="http://schemas.openxmlformats.org/drawingml/2006/main">
              <a:ext uri="{FF2B5EF4-FFF2-40B4-BE49-F238E27FC236}">
                <a16:creationId xmlns:a16="http://schemas.microsoft.com/office/drawing/2014/main" id="{644D3B50-A229-455F-A89E-C9E3D1D3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3314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ocal live mode-label">
            <a:extLst xmlns:a="http://schemas.openxmlformats.org/drawingml/2006/main">
              <a:ext uri="{FF2B5EF4-FFF2-40B4-BE49-F238E27FC236}">
                <a16:creationId xmlns:a16="http://schemas.microsoft.com/office/drawing/2014/main" id="{D09E4EC4-7808-460A-B49B-CB69076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live mode</a:t>
            </a:r>
          </a:p>
        </p:txBody>
      </p:sp>
      <p:sp>
        <p:nvSpPr>
          <p:cNvPr id="9" name="Local live mode-body">
            <a:extLst xmlns:a="http://schemas.openxmlformats.org/drawingml/2006/main">
              <a:ext uri="{FF2B5EF4-FFF2-40B4-BE49-F238E27FC236}">
                <a16:creationId xmlns:a16="http://schemas.microsoft.com/office/drawing/2014/main" id="{2DE6CBDD-8360-4C7E-89F1-22AD621D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FastAPI backend, WebSocket timeline, local OpenAI Responses API calls, and optional ServiceNow PDI.</a:t>
            </a:r>
          </a:p>
        </p:txBody>
      </p:sp>
      <p:sp>
        <p:nvSpPr>
          <p:cNvPr id="10" name="Mock fallback-panel">
            <a:extLst xmlns:a="http://schemas.openxmlformats.org/drawingml/2006/main">
              <a:ext uri="{FF2B5EF4-FFF2-40B4-BE49-F238E27FC236}">
                <a16:creationId xmlns:a16="http://schemas.microsoft.com/office/drawing/2014/main" id="{1F94D35A-9A4D-4D77-9BAC-175C2861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3314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Mock fallback-label">
            <a:extLst xmlns:a="http://schemas.openxmlformats.org/drawingml/2006/main">
              <a:ext uri="{FF2B5EF4-FFF2-40B4-BE49-F238E27FC236}">
                <a16:creationId xmlns:a16="http://schemas.microsoft.com/office/drawing/2014/main" id="{2A155C9E-111B-49B1-B1FD-9D7E59E5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Mock fallback</a:t>
            </a:r>
          </a:p>
        </p:txBody>
      </p:sp>
      <p:sp>
        <p:nvSpPr>
          <p:cNvPr id="12" name="Mock fallback-body">
            <a:extLst xmlns:a="http://schemas.openxmlformats.org/drawingml/2006/main">
              <a:ext uri="{FF2B5EF4-FFF2-40B4-BE49-F238E27FC236}">
                <a16:creationId xmlns:a16="http://schemas.microsoft.com/office/drawing/2014/main" id="{164BEAEA-06C7-4AA7-8CFF-CC40A7A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2895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golden outputs keep the demo resilient if OpenAI is unavailable.</a:t>
            </a:r>
          </a:p>
        </p:txBody>
      </p:sp>
      <p:cxnSp>
        <p:nvCxnSpPr>
          <p:cNvPr id="38" name="process-line"/>
          <p:cNvCxnSpPr/>
          <p:nvPr/>
        </p:nvCxnSpPr>
        <p:spPr>
          <a:xfrm xmlns:a="http://schemas.openxmlformats.org/drawingml/2006/main">
            <a:off x="1866900" y="3714750"/>
            <a:ext cx="8458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4" name="node-1">
            <a:extLst xmlns:a="http://schemas.openxmlformats.org/drawingml/2006/main">
              <a:ext uri="{FF2B5EF4-FFF2-40B4-BE49-F238E27FC236}">
                <a16:creationId xmlns:a16="http://schemas.microsoft.com/office/drawing/2014/main" id="{A6C9C31D-6BF9-4FD8-BDBB-D326630A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2">
            <a:extLst xmlns:a="http://schemas.openxmlformats.org/drawingml/2006/main">
              <a:ext uri="{FF2B5EF4-FFF2-40B4-BE49-F238E27FC236}">
                <a16:creationId xmlns:a16="http://schemas.microsoft.com/office/drawing/2014/main" id="{DA3D4FC9-96DC-4F02-86A7-F54C8AD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3D10B66C-1512-471F-AF25-FAD732D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4">
            <a:extLst xmlns:a="http://schemas.openxmlformats.org/drawingml/2006/main">
              <a:ext uri="{FF2B5EF4-FFF2-40B4-BE49-F238E27FC236}">
                <a16:creationId xmlns:a16="http://schemas.microsoft.com/office/drawing/2014/main" id="{3107A16D-D8C3-4D34-8F3C-F0E2BAC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node-5">
            <a:extLst xmlns:a="http://schemas.openxmlformats.org/drawingml/2006/main">
              <a:ext uri="{FF2B5EF4-FFF2-40B4-BE49-F238E27FC236}">
                <a16:creationId xmlns:a16="http://schemas.microsoft.com/office/drawing/2014/main" id="{6A767AA6-38F0-46F5-A665-E14C609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86150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35A28-120E-40E1-9D13-F5325A4E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Scenario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F2CEE-D7B4-492B-8EF8-49AF10E0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9250C-F2FA-4C16-AC7E-4CCEAD3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5093F-9F62-4B85-A41F-8FFF7AE9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5B19C-179A-49BF-8AD5-299AB30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100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529AB-31DA-4AF9-AC47-17B41F29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95059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Backend owns policy, approval, mock execution, validation, and audit events. AI proposes structured evidence and plans inside those guardrails.</a:t>
            </a:r>
          </a:p>
        </p:txBody>
      </p:sp>
      <p:sp>
        <p:nvSpPr>
          <p:cNvPr id="25" name="footer-3">
            <a:extLst xmlns:a="http://schemas.openxmlformats.org/drawingml/2006/main">
              <a:ext uri="{FF2B5EF4-FFF2-40B4-BE49-F238E27FC236}">
                <a16:creationId xmlns:a16="http://schemas.microsoft.com/office/drawing/2014/main" id="{82394AAF-5013-4C3F-AA40-1C354ECA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493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7195D85-7597-42C9-B9CE-63727AE3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084A93-10C0-40B4-BCF5-91534FB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Prerequisites and repo map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79C17-6853-4E4C-A69E-C8F9234C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Required local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F0788-1EF0-4C96-9A42-00CD32E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476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Python 3.12 with venv support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Node.js and npm.cmd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Git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OpenAI API key only for local live mode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Optional ServiceNow developer instance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480BD-4B42-44F7-A860-2B3FFD1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Key folders</a:t>
            </a:r>
          </a:p>
        </p:txBody>
      </p:sp>
      <p:sp>
        <p:nvSpPr>
          <p:cNvPr id="7" name="data/-panel">
            <a:extLst xmlns:a="http://schemas.openxmlformats.org/drawingml/2006/main">
              <a:ext uri="{FF2B5EF4-FFF2-40B4-BE49-F238E27FC236}">
                <a16:creationId xmlns:a16="http://schemas.microsoft.com/office/drawing/2014/main" id="{83CB076B-2C98-49EE-92BF-376F6EEF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ata/-label">
            <a:extLst xmlns:a="http://schemas.openxmlformats.org/drawingml/2006/main">
              <a:ext uri="{FF2B5EF4-FFF2-40B4-BE49-F238E27FC236}">
                <a16:creationId xmlns:a16="http://schemas.microsoft.com/office/drawing/2014/main" id="{770D4271-F482-441E-8660-95228C1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data/</a:t>
            </a:r>
          </a:p>
        </p:txBody>
      </p:sp>
      <p:sp>
        <p:nvSpPr>
          <p:cNvPr id="9" name="data/-body">
            <a:extLst xmlns:a="http://schemas.openxmlformats.org/drawingml/2006/main">
              <a:ext uri="{FF2B5EF4-FFF2-40B4-BE49-F238E27FC236}">
                <a16:creationId xmlns:a16="http://schemas.microsoft.com/office/drawing/2014/main" id="{6ACDB806-6967-42A6-B9E0-B3890D1C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480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scenarios, SOPs, replay streams</a:t>
            </a:r>
          </a:p>
        </p:txBody>
      </p:sp>
      <p:sp>
        <p:nvSpPr>
          <p:cNvPr id="10" name="services/backend/-panel">
            <a:extLst xmlns:a="http://schemas.openxmlformats.org/drawingml/2006/main">
              <a:ext uri="{FF2B5EF4-FFF2-40B4-BE49-F238E27FC236}">
                <a16:creationId xmlns:a16="http://schemas.microsoft.com/office/drawing/2014/main" id="{200B2A48-9503-43C7-85F9-EB598FBD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ervices/backend/-label">
            <a:extLst xmlns:a="http://schemas.openxmlformats.org/drawingml/2006/main">
              <a:ext uri="{FF2B5EF4-FFF2-40B4-BE49-F238E27FC236}">
                <a16:creationId xmlns:a16="http://schemas.microsoft.com/office/drawing/2014/main" id="{D59038FF-5C8D-4C78-868E-674CBD1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6230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services/backend/</a:t>
            </a:r>
          </a:p>
        </p:txBody>
      </p:sp>
      <p:sp>
        <p:nvSpPr>
          <p:cNvPr id="12" name="services/backend/-body">
            <a:extLst xmlns:a="http://schemas.openxmlformats.org/drawingml/2006/main">
              <a:ext uri="{FF2B5EF4-FFF2-40B4-BE49-F238E27FC236}">
                <a16:creationId xmlns:a16="http://schemas.microsoft.com/office/drawing/2014/main" id="{39F48AF1-A32F-49FD-912E-04D6A08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80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FastAPI orchestrator, policy gates, tests</a:t>
            </a:r>
          </a:p>
        </p:txBody>
      </p:sp>
      <p:sp>
        <p:nvSpPr>
          <p:cNvPr id="13" name="apps/dashboard/-panel">
            <a:extLst xmlns:a="http://schemas.openxmlformats.org/drawingml/2006/main">
              <a:ext uri="{FF2B5EF4-FFF2-40B4-BE49-F238E27FC236}">
                <a16:creationId xmlns:a16="http://schemas.microsoft.com/office/drawing/2014/main" id="{BEE2A278-1F4D-4E65-BB04-C9D1314D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pps/dashboard/-label">
            <a:extLst xmlns:a="http://schemas.openxmlformats.org/drawingml/2006/main">
              <a:ext uri="{FF2B5EF4-FFF2-40B4-BE49-F238E27FC236}">
                <a16:creationId xmlns:a16="http://schemas.microsoft.com/office/drawing/2014/main" id="{876D6CFB-9801-4981-AE51-FE699E6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apps/dashboard/</a:t>
            </a:r>
          </a:p>
        </p:txBody>
      </p:sp>
      <p:sp>
        <p:nvSpPr>
          <p:cNvPr id="15" name="apps/dashboard/-body">
            <a:extLst xmlns:a="http://schemas.openxmlformats.org/drawingml/2006/main">
              <a:ext uri="{FF2B5EF4-FFF2-40B4-BE49-F238E27FC236}">
                <a16:creationId xmlns:a16="http://schemas.microsoft.com/office/drawing/2014/main" id="{CFFF9D2B-2EA6-43E8-82B3-4A682F7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480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React operations console and browser E2E tests</a:t>
            </a:r>
          </a:p>
        </p:txBody>
      </p:sp>
      <p:sp>
        <p:nvSpPr>
          <p:cNvPr id="16" name="docs/-panel">
            <a:extLst xmlns:a="http://schemas.openxmlformats.org/drawingml/2006/main">
              <a:ext uri="{FF2B5EF4-FFF2-40B4-BE49-F238E27FC236}">
                <a16:creationId xmlns:a16="http://schemas.microsoft.com/office/drawing/2014/main" id="{D89109EC-E1D5-444E-A745-5A7364B3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docs/-label">
            <a:extLst xmlns:a="http://schemas.openxmlformats.org/drawingml/2006/main">
              <a:ext uri="{FF2B5EF4-FFF2-40B4-BE49-F238E27FC236}">
                <a16:creationId xmlns:a16="http://schemas.microsoft.com/office/drawing/2014/main" id="{2A955F01-81F3-4704-9807-F42FC2C7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5300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docs/</a:t>
            </a:r>
          </a:p>
        </p:txBody>
      </p:sp>
      <p:sp>
        <p:nvSpPr>
          <p:cNvPr id="18" name="docs/-body">
            <a:extLst xmlns:a="http://schemas.openxmlformats.org/drawingml/2006/main">
              <a:ext uri="{FF2B5EF4-FFF2-40B4-BE49-F238E27FC236}">
                <a16:creationId xmlns:a16="http://schemas.microsoft.com/office/drawing/2014/main" id="{1C80B68D-EF5D-45C4-AE3F-D133F7EE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38750"/>
            <a:ext cx="480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Architecture, demo script, scoring map, runbooks</a:t>
            </a:r>
          </a:p>
        </p:txBody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A893913E-4DB1-49C7-9F19-AE218AFE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D951-6EAF-47BF-98A1-EE0102A7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219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90500" tIns="171450" rIns="190500" bIns="17145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cd "D:\Hackathon - API\nexus-resolve"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.\scripts\setup-all.cmd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.\scripts\check-all.cmd</a:t>
            </a:r>
          </a:p>
        </p:txBody>
      </p:sp>
    </p:spTree>
    <p:extLst>
      <p:ext uri="{BB962C8B-B14F-4D97-AF65-F5344CB8AC3E}">
        <p14:creationId xmlns:p14="http://schemas.microsoft.com/office/powerpoint/2010/main" val="78197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5A2307CE-7904-4E2B-8619-3D4EB383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456AD1-F611-410F-B3C5-82808B84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Launch the local demo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One command-panel">
            <a:extLst xmlns:a="http://schemas.openxmlformats.org/drawingml/2006/main">
              <a:ext uri="{FF2B5EF4-FFF2-40B4-BE49-F238E27FC236}">
                <a16:creationId xmlns:a16="http://schemas.microsoft.com/office/drawing/2014/main" id="{5AAC2DE0-C8E1-4E4C-8DE6-E266F31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One command-label">
            <a:extLst xmlns:a="http://schemas.openxmlformats.org/drawingml/2006/main">
              <a:ext uri="{FF2B5EF4-FFF2-40B4-BE49-F238E27FC236}">
                <a16:creationId xmlns:a16="http://schemas.microsoft.com/office/drawing/2014/main" id="{A8AF15C2-CD13-4C74-920F-3095D62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command</a:t>
            </a:r>
          </a:p>
        </p:txBody>
      </p:sp>
      <p:sp>
        <p:nvSpPr>
          <p:cNvPr id="6" name="One command-body">
            <a:extLst xmlns:a="http://schemas.openxmlformats.org/drawingml/2006/main">
              <a:ext uri="{FF2B5EF4-FFF2-40B4-BE49-F238E27FC236}">
                <a16:creationId xmlns:a16="http://schemas.microsoft.com/office/drawing/2014/main" id="{C756087A-E271-4BFC-9C75-FA512E8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Use scripts\start-demo.cmd from the nested nexus-resolve repo. It starts or reuses backend, dashboard, and deep-dive servers.</a:t>
            </a:r>
          </a:p>
        </p:txBody>
      </p:sp>
      <p:sp>
        <p:nvSpPr>
          <p:cNvPr id="7" name="Demo URLs-panel">
            <a:extLst xmlns:a="http://schemas.openxmlformats.org/drawingml/2006/main">
              <a:ext uri="{FF2B5EF4-FFF2-40B4-BE49-F238E27FC236}">
                <a16:creationId xmlns:a16="http://schemas.microsoft.com/office/drawing/2014/main" id="{A4BAED68-E01C-4DD0-BC12-29A2B500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emo URLs-label">
            <a:extLst xmlns:a="http://schemas.openxmlformats.org/drawingml/2006/main">
              <a:ext uri="{FF2B5EF4-FFF2-40B4-BE49-F238E27FC236}">
                <a16:creationId xmlns:a16="http://schemas.microsoft.com/office/drawing/2014/main" id="{2C5A088E-AABC-4871-AC08-3398197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 URLs</a:t>
            </a:r>
          </a:p>
        </p:txBody>
      </p:sp>
      <p:sp>
        <p:nvSpPr>
          <p:cNvPr id="9" name="Demo URLs-body">
            <a:extLst xmlns:a="http://schemas.openxmlformats.org/drawingml/2006/main">
              <a:ext uri="{FF2B5EF4-FFF2-40B4-BE49-F238E27FC236}">
                <a16:creationId xmlns:a16="http://schemas.microsoft.com/office/drawing/2014/main" id="{9CC766A8-AD4B-4988-97B9-996EC27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Dashboard: localhost:5173. Deep dive: 127.0.0.1:5174/apps/deep-dive/#both. Backend health: 127.0.0.1:8000/api/health.</a:t>
            </a:r>
          </a:p>
        </p:txBody>
      </p:sp>
      <p:sp>
        <p:nvSpPr>
          <p:cNvPr id="10" name="Live mode key-panel">
            <a:extLst xmlns:a="http://schemas.openxmlformats.org/drawingml/2006/main">
              <a:ext uri="{FF2B5EF4-FFF2-40B4-BE49-F238E27FC236}">
                <a16:creationId xmlns:a16="http://schemas.microsoft.com/office/drawing/2014/main" id="{0F6AF005-F317-4F18-8127-762DF023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ive mode key-label">
            <a:extLst xmlns:a="http://schemas.openxmlformats.org/drawingml/2006/main">
              <a:ext uri="{FF2B5EF4-FFF2-40B4-BE49-F238E27FC236}">
                <a16:creationId xmlns:a16="http://schemas.microsoft.com/office/drawing/2014/main" id="{54B02DCE-446A-473A-ACEA-5ADF8A2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mode key</a:t>
            </a:r>
          </a:p>
        </p:txBody>
      </p:sp>
      <p:sp>
        <p:nvSpPr>
          <p:cNvPr id="12" name="Live mode key-body">
            <a:extLst xmlns:a="http://schemas.openxmlformats.org/drawingml/2006/main">
              <a:ext uri="{FF2B5EF4-FFF2-40B4-BE49-F238E27FC236}">
                <a16:creationId xmlns:a16="http://schemas.microsoft.com/office/drawing/2014/main" id="{948CAB2F-95CF-4149-85C4-4EA1D9F9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Copy .env.example to .env and set OPENAI_API_KEY. Keep .env out of git.</a:t>
            </a:r>
          </a:p>
        </p:txBody>
      </p:sp>
      <p:sp>
        <p:nvSpPr>
          <p:cNvPr id="13" name="footer-5">
            <a:extLst xmlns:a="http://schemas.openxmlformats.org/drawingml/2006/main">
              <a:ext uri="{FF2B5EF4-FFF2-40B4-BE49-F238E27FC236}">
                <a16:creationId xmlns:a16="http://schemas.microsoft.com/office/drawing/2014/main" id="{B89A1D35-938C-4C1F-AF0D-18DB285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B1D94-7070-4334-9B0D-029DCEEA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90500" tIns="171450" rIns="190500" bIns="17145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.\scripts\start-demo.cmd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 dashboard and deep-dive URLs printed by the script.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88B47-AA3E-405C-9AEE-90AE29A5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33800"/>
            <a:ext cx="4324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90500" tIns="171450" rIns="190500" bIns="17145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OPENAI_API_KEY=...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OPENAI_MODEL=gpt-5.5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APP_MODE=live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SERVICENOW_* optional</a:t>
            </a:r>
          </a:p>
        </p:txBody>
      </p:sp>
    </p:spTree>
    <p:extLst>
      <p:ext uri="{BB962C8B-B14F-4D97-AF65-F5344CB8AC3E}">
        <p14:creationId xmlns:p14="http://schemas.microsoft.com/office/powerpoint/2010/main" val="639237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65E49C6F-8FA1-4500-BDB1-DAB3C6C9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C366DD-E78E-441B-A047-130E8944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alert dashboard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C98E3-A491-475D-8F70-500AE51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Start from the operations alert view. Select the default Windows Infra disk incident or another synthetic scenario.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6DECA-0CA6-4E12-8F8E-FAA3F8E8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4000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to point out: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- 12 scenario coverage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baseline impact metrics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replay/live mode labels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backend status indicator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3993F-E182-43E5-B558-D0986FD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5867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oter-6">
            <a:extLst xmlns:a="http://schemas.openxmlformats.org/drawingml/2006/main">
              <a:ext uri="{FF2B5EF4-FFF2-40B4-BE49-F238E27FC236}">
                <a16:creationId xmlns:a16="http://schemas.microsoft.com/office/drawing/2014/main" id="{D4A7C1F7-9BEF-4F6E-8FB2-6AA82E6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a73d143cf4047"/>
          <a:srcRect xmlns:a="http://schemas.openxmlformats.org/drawingml/2006/main" l="0" t="24871" r="0" b="24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885950"/>
            <a:ext cx="5486400" cy="3562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62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8BEDFC95-89B0-4966-B9A5-BC19001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3642E4-F56E-4057-872A-AECF137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an incident workspace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ECE4E-0625-4141-8732-4D09A20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incident screen is the operator workflow surface. Use Start Simulation, then watch the timeline move from evidence to approval to closure.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29C2F-558C-4A75-B661-04058293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4381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 actions: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Choose Replay or Live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Start Simulation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Review SOP/history evidence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 Approve mock-only remediation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5. Close or Observe after 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3E74C-F607-4850-9617-4A2A168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6057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oter-7">
            <a:extLst xmlns:a="http://schemas.openxmlformats.org/drawingml/2006/main">
              <a:ext uri="{FF2B5EF4-FFF2-40B4-BE49-F238E27FC236}">
                <a16:creationId xmlns:a16="http://schemas.microsoft.com/office/drawing/2014/main" id="{4F0890AB-517F-4C4F-B821-9CE107EC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4e6a68c0642f7"/>
          <a:srcRect xmlns:a="http://schemas.openxmlformats.org/drawingml/2006/main" l="0" t="35929" r="0" b="35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847850"/>
            <a:ext cx="56769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36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82759B5F-7135-42E6-A8E9-A4A00864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476245-91DB-41C5-8845-41B4BE9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End-to-end incident lifecycle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38200" y="3429000"/>
            <a:ext cx="10515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2E70C-FB76-44DB-81F1-D86E5FA9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90C17-6803-419A-9F51-CBBA5C27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08F7D-DE66-4855-8155-265B7883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AA1CE-BAEA-4FCA-B7D5-D70E1D2A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53ADF-53F9-4987-B402-CC673E75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EACFD-EA61-4EFD-A010-AB327818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CF636-C227-44AC-8C7A-1EEF61D4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FE420-49C9-4A40-B7E2-C00F93CB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052D1-AF46-40E8-B93B-B4B9F84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4F13D-C550-4E60-A91C-2E7CCEC2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52812-B789-4670-8706-625BB087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50BD2-1F9C-41F6-902D-5E097CF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Mock exec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D8DF8-8350-4020-B990-F40D17E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63AF2-B119-47EE-9AF7-08C7118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3D591-E672-4B0F-A7D2-4B7ACB8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6C009-5209-449B-8C44-0971CBFB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036EC-9656-4AAB-AE8F-24C6770F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0990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B1599-61E2-47F1-9248-4DE2F699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9565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56F70-8D43-46CD-83B0-B8747DCB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Use this sentence in the demo: the AI does not execute remediation; it produces structured evidence and plans that the backend subjects to policy, approval, mock execution, validation, and audit.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EECFF-1A45-4333-88CC-1A037CCA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SOP beats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EBB97-03AE-4351-9548-6204B497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409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Unsafe historical precedent is surfaced and blocked, even when it came from a past ticket.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BCE80-18B9-42D0-B2AC-F98AABF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BA052-0C33-4DAD-B568-0A8A6B34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409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workflow pauses before mock remediation and records operator metadata for audit evidence.</a:t>
            </a:r>
          </a:p>
        </p:txBody>
      </p:sp>
      <p:sp>
        <p:nvSpPr>
          <p:cNvPr id="28" name="footer-8">
            <a:extLst xmlns:a="http://schemas.openxmlformats.org/drawingml/2006/main">
              <a:ext uri="{FF2B5EF4-FFF2-40B4-BE49-F238E27FC236}">
                <a16:creationId xmlns:a16="http://schemas.microsoft.com/office/drawing/2014/main" id="{87718C10-F2C0-4F01-A3E6-1BADBC5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3353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2F53767D-25C5-48B0-8C2F-B65C46B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F74A7C-D81A-4DBF-99B9-D227C323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Safety controls judges will ask about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No real execution-panel">
            <a:extLst xmlns:a="http://schemas.openxmlformats.org/drawingml/2006/main">
              <a:ext uri="{FF2B5EF4-FFF2-40B4-BE49-F238E27FC236}">
                <a16:creationId xmlns:a16="http://schemas.microsoft.com/office/drawing/2014/main" id="{29D4650F-3AAA-4EA0-8034-3E7D3EA6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 real execution-label">
            <a:extLst xmlns:a="http://schemas.openxmlformats.org/drawingml/2006/main">
              <a:ext uri="{FF2B5EF4-FFF2-40B4-BE49-F238E27FC236}">
                <a16:creationId xmlns:a16="http://schemas.microsoft.com/office/drawing/2014/main" id="{59F68BAF-AB08-4EF1-AC63-0F54B0C0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91B1B"/>
                </a:solidFill>
                <a:latin typeface="Helvetica Neue"/>
                <a:ea typeface="Helvetica Neue"/>
                <a:cs typeface="Helvetica Neue"/>
              </a:defRPr>
            </a:pPr>
            <a:r>
              <a:t>No real execution</a:t>
            </a:r>
          </a:p>
        </p:txBody>
      </p:sp>
      <p:sp>
        <p:nvSpPr>
          <p:cNvPr id="6" name="No real execution-body">
            <a:extLst xmlns:a="http://schemas.openxmlformats.org/drawingml/2006/main">
              <a:ext uri="{FF2B5EF4-FFF2-40B4-BE49-F238E27FC236}">
                <a16:creationId xmlns:a16="http://schemas.microsoft.com/office/drawing/2014/main" id="{2DB98784-F5FF-44DC-9C02-0612B8E9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00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Host remediation remains mock-only. Roadmap connectors are explicitly outside the hackathon demo.</a:t>
            </a:r>
          </a:p>
        </p:txBody>
      </p:sp>
      <p:sp>
        <p:nvSpPr>
          <p:cNvPr id="7" name="Policy gate-panel">
            <a:extLst xmlns:a="http://schemas.openxmlformats.org/drawingml/2006/main">
              <a:ext uri="{FF2B5EF4-FFF2-40B4-BE49-F238E27FC236}">
                <a16:creationId xmlns:a16="http://schemas.microsoft.com/office/drawing/2014/main" id="{4A756540-D650-471C-ACA1-27EAEC9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olicy gate-label">
            <a:extLst xmlns:a="http://schemas.openxmlformats.org/drawingml/2006/main">
              <a:ext uri="{FF2B5EF4-FFF2-40B4-BE49-F238E27FC236}">
                <a16:creationId xmlns:a16="http://schemas.microsoft.com/office/drawing/2014/main" id="{1FBEDAF4-74CB-4E30-8DAB-E065F98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gate</a:t>
            </a:r>
          </a:p>
        </p:txBody>
      </p:sp>
      <p:sp>
        <p:nvSpPr>
          <p:cNvPr id="9" name="Policy gate-body">
            <a:extLst xmlns:a="http://schemas.openxmlformats.org/drawingml/2006/main">
              <a:ext uri="{FF2B5EF4-FFF2-40B4-BE49-F238E27FC236}">
                <a16:creationId xmlns:a16="http://schemas.microsoft.com/office/drawing/2014/main" id="{D4DA2349-8C67-4624-9ED1-EEAAE05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300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Blocks protected resources, missing approval, missing dry-run/mock guard, missing validation, and real execution markers.</a:t>
            </a:r>
          </a:p>
        </p:txBody>
      </p:sp>
      <p:sp>
        <p:nvSpPr>
          <p:cNvPr id="10" name="Approval gate-panel">
            <a:extLst xmlns:a="http://schemas.openxmlformats.org/drawingml/2006/main">
              <a:ext uri="{FF2B5EF4-FFF2-40B4-BE49-F238E27FC236}">
                <a16:creationId xmlns:a16="http://schemas.microsoft.com/office/drawing/2014/main" id="{4134F331-3C3B-4D3D-A729-3512331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pproval gate-label">
            <a:extLst xmlns:a="http://schemas.openxmlformats.org/drawingml/2006/main">
              <a:ext uri="{FF2B5EF4-FFF2-40B4-BE49-F238E27FC236}">
                <a16:creationId xmlns:a16="http://schemas.microsoft.com/office/drawing/2014/main" id="{7F7EA6D1-0BF4-4DEF-AB39-7D24A158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 gate</a:t>
            </a:r>
          </a:p>
        </p:txBody>
      </p:sp>
      <p:sp>
        <p:nvSpPr>
          <p:cNvPr id="12" name="Approval gate-body">
            <a:extLst xmlns:a="http://schemas.openxmlformats.org/drawingml/2006/main">
              <a:ext uri="{FF2B5EF4-FFF2-40B4-BE49-F238E27FC236}">
                <a16:creationId xmlns:a16="http://schemas.microsoft.com/office/drawing/2014/main" id="{AFA89B13-52D6-42F0-B354-7B09F1B0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300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Operators approve, reject, observe, or close. The system records who approved and why.</a:t>
            </a:r>
          </a:p>
        </p:txBody>
      </p:sp>
      <p:sp>
        <p:nvSpPr>
          <p:cNvPr id="13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4D9ABC44-CD01-4162-A928-6BC11464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Validation-label">
            <a:extLst xmlns:a="http://schemas.openxmlformats.org/drawingml/2006/main">
              <a:ext uri="{FF2B5EF4-FFF2-40B4-BE49-F238E27FC236}">
                <a16:creationId xmlns:a16="http://schemas.microsoft.com/office/drawing/2014/main" id="{4E0B0CBB-0A6B-4D53-998F-50D60A57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</a:t>
            </a:r>
          </a:p>
        </p:txBody>
      </p:sp>
      <p:sp>
        <p:nvSpPr>
          <p:cNvPr id="15" name="Validation-body">
            <a:extLst xmlns:a="http://schemas.openxmlformats.org/drawingml/2006/main">
              <a:ext uri="{FF2B5EF4-FFF2-40B4-BE49-F238E27FC236}">
                <a16:creationId xmlns:a16="http://schemas.microsoft.com/office/drawing/2014/main" id="{3CE30499-FE94-410E-87C8-6DCC0109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00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Scenario-specific metrics must improve before RCA and closure.</a:t>
            </a:r>
          </a:p>
        </p:txBody>
      </p:sp>
      <p:sp>
        <p:nvSpPr>
          <p:cNvPr id="16" name="Replay safety-panel">
            <a:extLst xmlns:a="http://schemas.openxmlformats.org/drawingml/2006/main">
              <a:ext uri="{FF2B5EF4-FFF2-40B4-BE49-F238E27FC236}">
                <a16:creationId xmlns:a16="http://schemas.microsoft.com/office/drawing/2014/main" id="{203D374A-8324-45CF-84D2-9F03EE72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eplay safety-label">
            <a:extLst xmlns:a="http://schemas.openxmlformats.org/drawingml/2006/main">
              <a:ext uri="{FF2B5EF4-FFF2-40B4-BE49-F238E27FC236}">
                <a16:creationId xmlns:a16="http://schemas.microsoft.com/office/drawing/2014/main" id="{0FDAE960-742C-4C00-8A89-5038169C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safety</a:t>
            </a:r>
          </a:p>
        </p:txBody>
      </p:sp>
      <p:sp>
        <p:nvSpPr>
          <p:cNvPr id="18" name="Replay safety-body">
            <a:extLst xmlns:a="http://schemas.openxmlformats.org/drawingml/2006/main">
              <a:ext uri="{FF2B5EF4-FFF2-40B4-BE49-F238E27FC236}">
                <a16:creationId xmlns:a16="http://schemas.microsoft.com/office/drawing/2014/main" id="{00813F61-B7BE-4128-8BC8-E043B4B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300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Public Pages uses static replay only. No backend, no secrets, no side effects.</a:t>
            </a:r>
          </a:p>
        </p:txBody>
      </p:sp>
      <p:sp>
        <p:nvSpPr>
          <p:cNvPr id="19" name="Evidence export-panel">
            <a:extLst xmlns:a="http://schemas.openxmlformats.org/drawingml/2006/main">
              <a:ext uri="{FF2B5EF4-FFF2-40B4-BE49-F238E27FC236}">
                <a16:creationId xmlns:a16="http://schemas.microsoft.com/office/drawing/2014/main" id="{9329A48F-DA3E-476F-B59E-47F0E4CC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Evidence export-label">
            <a:extLst xmlns:a="http://schemas.openxmlformats.org/drawingml/2006/main">
              <a:ext uri="{FF2B5EF4-FFF2-40B4-BE49-F238E27FC236}">
                <a16:creationId xmlns:a16="http://schemas.microsoft.com/office/drawing/2014/main" id="{C6ACDCAE-20F3-47B5-84B4-879A111D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export</a:t>
            </a:r>
          </a:p>
        </p:txBody>
      </p:sp>
      <p:sp>
        <p:nvSpPr>
          <p:cNvPr id="21" name="Evidence export-body">
            <a:extLst xmlns:a="http://schemas.openxmlformats.org/drawingml/2006/main">
              <a:ext uri="{FF2B5EF4-FFF2-40B4-BE49-F238E27FC236}">
                <a16:creationId xmlns:a16="http://schemas.microsoft.com/office/drawing/2014/main" id="{BCA2392D-DF0B-4667-B831-AE0692C1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300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Audit packet and PDF prove the run, policy checks, approval, RCA, and closure state.</a:t>
            </a:r>
          </a:p>
        </p:txBody>
      </p:sp>
      <p:sp>
        <p:nvSpPr>
          <p:cNvPr id="22" name="footer-9">
            <a:extLst xmlns:a="http://schemas.openxmlformats.org/drawingml/2006/main">
              <a:ext uri="{FF2B5EF4-FFF2-40B4-BE49-F238E27FC236}">
                <a16:creationId xmlns:a16="http://schemas.microsoft.com/office/drawing/2014/main" id="{6C5A3F71-A361-4C45-BAA4-B5D563E4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28c06c2fa42bd"/>
          <a:srcRect xmlns:a="http://schemas.openxmlformats.org/drawingml/2006/main" l="0" t="44045" r="0" b="4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4857750"/>
            <a:ext cx="264795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56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9F711DE3-7B48-419E-B9C5-FB234DA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44A70D-F3B7-423B-9C0F-BAED7F9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 live mode proof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AD239-C937-4404-B513-A3B29AF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810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When OPENAI_API_KEY is configured, evidence and plan generation run through a real Responses API tool loop over safe local tools.</a:t>
            </a:r>
          </a:p>
        </p:txBody>
      </p:sp>
      <p:sp>
        <p:nvSpPr>
          <p:cNvPr id="5" name="Local tools-metric-panel">
            <a:extLst xmlns:a="http://schemas.openxmlformats.org/drawingml/2006/main">
              <a:ext uri="{FF2B5EF4-FFF2-40B4-BE49-F238E27FC236}">
                <a16:creationId xmlns:a16="http://schemas.microsoft.com/office/drawing/2014/main" id="{FE8B4907-0611-4BB9-A726-63022711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571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Local tools-value">
            <a:extLst xmlns:a="http://schemas.openxmlformats.org/drawingml/2006/main">
              <a:ext uri="{FF2B5EF4-FFF2-40B4-BE49-F238E27FC236}">
                <a16:creationId xmlns:a16="http://schemas.microsoft.com/office/drawing/2014/main" id="{75F04D29-F6D6-49CC-B6EA-16546FC2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7" name="Local tools-label">
            <a:extLst xmlns:a="http://schemas.openxmlformats.org/drawingml/2006/main">
              <a:ext uri="{FF2B5EF4-FFF2-40B4-BE49-F238E27FC236}">
                <a16:creationId xmlns:a16="http://schemas.microsoft.com/office/drawing/2014/main" id="{AA2F01C8-7B76-4C18-97DB-BEF8E5E8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tools</a:t>
            </a:r>
          </a:p>
        </p:txBody>
      </p:sp>
      <p:sp>
        <p:nvSpPr>
          <p:cNvPr id="8" name="Local tools-note">
            <a:extLst xmlns:a="http://schemas.openxmlformats.org/drawingml/2006/main">
              <a:ext uri="{FF2B5EF4-FFF2-40B4-BE49-F238E27FC236}">
                <a16:creationId xmlns:a16="http://schemas.microsoft.com/office/drawing/2014/main" id="{4820C7E0-1299-4501-8F74-B58AAE9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SOP, history, initial state, policy preview</a:t>
            </a:r>
          </a:p>
        </p:txBody>
      </p:sp>
      <p:sp>
        <p:nvSpPr>
          <p:cNvPr id="9" name="Secrets in UI-metric-panel">
            <a:extLst xmlns:a="http://schemas.openxmlformats.org/drawingml/2006/main">
              <a:ext uri="{FF2B5EF4-FFF2-40B4-BE49-F238E27FC236}">
                <a16:creationId xmlns:a16="http://schemas.microsoft.com/office/drawing/2014/main" id="{72D84A9D-B21C-4CF1-9E24-5D74076C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571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ecrets in UI-value">
            <a:extLst xmlns:a="http://schemas.openxmlformats.org/drawingml/2006/main">
              <a:ext uri="{FF2B5EF4-FFF2-40B4-BE49-F238E27FC236}">
                <a16:creationId xmlns:a16="http://schemas.microsoft.com/office/drawing/2014/main" id="{8E427CC6-0074-4CCA-8832-E8CC2E1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Secrets in UI-label">
            <a:extLst xmlns:a="http://schemas.openxmlformats.org/drawingml/2006/main">
              <a:ext uri="{FF2B5EF4-FFF2-40B4-BE49-F238E27FC236}">
                <a16:creationId xmlns:a16="http://schemas.microsoft.com/office/drawing/2014/main" id="{9B328BAB-A478-46B1-A2DB-41B57B63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Secrets in UI</a:t>
            </a:r>
          </a:p>
        </p:txBody>
      </p:sp>
      <p:sp>
        <p:nvSpPr>
          <p:cNvPr id="12" name="Secrets in UI-note">
            <a:extLst xmlns:a="http://schemas.openxmlformats.org/drawingml/2006/main">
              <a:ext uri="{FF2B5EF4-FFF2-40B4-BE49-F238E27FC236}">
                <a16:creationId xmlns:a16="http://schemas.microsoft.com/office/drawing/2014/main" id="{81A85A0D-3C0C-4559-8F5D-0A5D1AE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338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API key stays server-side</a:t>
            </a:r>
          </a:p>
        </p:txBody>
      </p:sp>
      <p:sp>
        <p:nvSpPr>
          <p:cNvPr id="13" name="Fallback path-metric-panel">
            <a:extLst xmlns:a="http://schemas.openxmlformats.org/drawingml/2006/main">
              <a:ext uri="{FF2B5EF4-FFF2-40B4-BE49-F238E27FC236}">
                <a16:creationId xmlns:a16="http://schemas.microsoft.com/office/drawing/2014/main" id="{CA77EAE3-6D4B-4CEE-8DD0-27333404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571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allback path-value">
            <a:extLst xmlns:a="http://schemas.openxmlformats.org/drawingml/2006/main">
              <a:ext uri="{FF2B5EF4-FFF2-40B4-BE49-F238E27FC236}">
                <a16:creationId xmlns:a16="http://schemas.microsoft.com/office/drawing/2014/main" id="{47A29FB8-1A1F-4A04-8808-1AE0FEDD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5" name="Fallback path-label">
            <a:extLst xmlns:a="http://schemas.openxmlformats.org/drawingml/2006/main">
              <a:ext uri="{FF2B5EF4-FFF2-40B4-BE49-F238E27FC236}">
                <a16:creationId xmlns:a16="http://schemas.microsoft.com/office/drawing/2014/main" id="{B3EBE654-C420-47F1-93BC-FCB5203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Fallback path</a:t>
            </a:r>
          </a:p>
        </p:txBody>
      </p:sp>
      <p:sp>
        <p:nvSpPr>
          <p:cNvPr id="16" name="Fallback path-note">
            <a:extLst xmlns:a="http://schemas.openxmlformats.org/drawingml/2006/main">
              <a:ext uri="{FF2B5EF4-FFF2-40B4-BE49-F238E27FC236}">
                <a16:creationId xmlns:a16="http://schemas.microsoft.com/office/drawing/2014/main" id="{FB3A8D9B-23E7-4458-9DC5-E2C223E2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338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golden response if 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3C5DE-4D51-4CD1-8643-F34149F2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381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to show: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Live AI Proof strip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Source: OpenAI Responses API + local tool loop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Model and token/latency telemetry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Tool Loop local call count</a:t>
            </a:r>
          </a:p>
        </p:txBody>
      </p:sp>
      <p:sp>
        <p:nvSpPr>
          <p:cNvPr id="18" name="footer-10">
            <a:extLst xmlns:a="http://schemas.openxmlformats.org/drawingml/2006/main">
              <a:ext uri="{FF2B5EF4-FFF2-40B4-BE49-F238E27FC236}">
                <a16:creationId xmlns:a16="http://schemas.microsoft.com/office/drawing/2014/main" id="{F1E0CF63-1044-4392-8260-595D4B5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952500" y="4953000"/>
          <a:ext xmlns:a="http://schemas.openxmlformats.org/drawingml/2006/main" cx="6858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98b6e36acc4b88"/>
          </a:graphicData>
        </a:graphic>
      </p:graphicFrame>
    </p:spTree>
    <p:extLst>
      <p:ext uri="{BB962C8B-B14F-4D97-AF65-F5344CB8AC3E}">
        <p14:creationId xmlns:p14="http://schemas.microsoft.com/office/powerpoint/2010/main" val="2692134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2800C959-EB4C-4E79-8F26-24C548B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A11DF2-544F-4849-A98D-7744911A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ServiceNow evidence path</a:t>
            </a:r>
          </a:p>
        </p:txBody>
      </p:sp>
      <p:cxnSp>
        <p:nvCxnSpPr>
          <p:cNvPr id="19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Default-panel">
            <a:extLst xmlns:a="http://schemas.openxmlformats.org/drawingml/2006/main">
              <a:ext uri="{FF2B5EF4-FFF2-40B4-BE49-F238E27FC236}">
                <a16:creationId xmlns:a16="http://schemas.microsoft.com/office/drawing/2014/main" id="{E22D735B-DEA6-4D3F-AFAA-D38D6192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efault-label">
            <a:extLst xmlns:a="http://schemas.openxmlformats.org/drawingml/2006/main">
              <a:ext uri="{FF2B5EF4-FFF2-40B4-BE49-F238E27FC236}">
                <a16:creationId xmlns:a16="http://schemas.microsoft.com/office/drawing/2014/main" id="{F0C302F6-16C7-4C27-9A34-CBFFB2F1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Default</a:t>
            </a:r>
          </a:p>
        </p:txBody>
      </p:sp>
      <p:sp>
        <p:nvSpPr>
          <p:cNvPr id="6" name="Default-body">
            <a:extLst xmlns:a="http://schemas.openxmlformats.org/drawingml/2006/main">
              <a:ext uri="{FF2B5EF4-FFF2-40B4-BE49-F238E27FC236}">
                <a16:creationId xmlns:a16="http://schemas.microsoft.com/office/drawing/2014/main" id="{60D766F8-16AC-49F6-B382-0C42A6B6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914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The connector returns dry-run payloads. This is free for testing and safe for public demo.</a:t>
            </a:r>
          </a:p>
        </p:txBody>
      </p:sp>
      <p:sp>
        <p:nvSpPr>
          <p:cNvPr id="7" name="Optional PDI-panel">
            <a:extLst xmlns:a="http://schemas.openxmlformats.org/drawingml/2006/main">
              <a:ext uri="{FF2B5EF4-FFF2-40B4-BE49-F238E27FC236}">
                <a16:creationId xmlns:a16="http://schemas.microsoft.com/office/drawing/2014/main" id="{1286AF4A-7C12-4E96-A596-EE68A9E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Optional PDI-label">
            <a:extLst xmlns:a="http://schemas.openxmlformats.org/drawingml/2006/main">
              <a:ext uri="{FF2B5EF4-FFF2-40B4-BE49-F238E27FC236}">
                <a16:creationId xmlns:a16="http://schemas.microsoft.com/office/drawing/2014/main" id="{F753071A-F4BF-4EE3-BB91-E861D3A6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PDI</a:t>
            </a:r>
          </a:p>
        </p:txBody>
      </p:sp>
      <p:sp>
        <p:nvSpPr>
          <p:cNvPr id="9" name="Optional PDI-body">
            <a:extLst xmlns:a="http://schemas.openxmlformats.org/drawingml/2006/main">
              <a:ext uri="{FF2B5EF4-FFF2-40B4-BE49-F238E27FC236}">
                <a16:creationId xmlns:a16="http://schemas.microsoft.com/office/drawing/2014/main" id="{63718E6E-81C4-40EF-8FF5-36593154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2914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Set SERVICENOW_INSTANCE_URL, SERVICENOW_USERNAME, and SERVICENOW_PASSWORD for developer-instance work notes.</a:t>
            </a:r>
          </a:p>
        </p:txBody>
      </p:sp>
      <p:sp>
        <p:nvSpPr>
          <p:cNvPr id="10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A9344A37-9143-45F4-941A-205F5F5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8007F42B-C141-422E-96EA-EE6CBD97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24050"/>
            <a:ext cx="291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Boundary</a:t>
            </a:r>
          </a:p>
        </p:txBody>
      </p:sp>
      <p:sp>
        <p:nvSpPr>
          <p:cNvPr id="12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7830815D-20DA-4CDF-B80F-0D9BE740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914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It writes RCA/audit evidence only. It does not execute host remediation.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B4419-BB51-43C5-AD24-8458BAB0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ServiceNow Note button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6ABA9-3A83-42A2-8812-D71EDBDC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5334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it after the run reaches audit-ready state. Without credentials it previews the exact work note: incident id, RCA, audit hash, policy outcome, and telemetry.</a:t>
            </a:r>
          </a:p>
        </p:txBody>
      </p:sp>
      <p:sp>
        <p:nvSpPr>
          <p:cNvPr id="15" name="footer-11">
            <a:extLst xmlns:a="http://schemas.openxmlformats.org/drawingml/2006/main">
              <a:ext uri="{FF2B5EF4-FFF2-40B4-BE49-F238E27FC236}">
                <a16:creationId xmlns:a16="http://schemas.microsoft.com/office/drawing/2014/main" id="{F15ED637-9335-4728-B444-C0E1FA9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DC54F-E773-4CAB-AC62-60025D99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267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90500" tIns="171450" rIns="190500" bIns="17145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/api/connectors/servicenow/status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/api/runs/{run_id}/servicenow/work-note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Body: { dry_run: true }</a:t>
            </a:r>
          </a:p>
        </p:txBody>
      </p:sp>
    </p:spTree>
    <p:extLst>
      <p:ext uri="{BB962C8B-B14F-4D97-AF65-F5344CB8AC3E}">
        <p14:creationId xmlns:p14="http://schemas.microsoft.com/office/powerpoint/2010/main" val="1374797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3AF73E8-F88E-4B1D-985B-FFD5212A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49B21-51EC-486D-9A6F-56D2449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 export and closure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79483-3750-4DD3-82F3-6146547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complete run ends with RCA, validation, audit packet/PDF, then a closure or observation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0E727-482A-4024-BC39-F64853E1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44767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this order: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Confirm RCA generated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Show audit packet or PDF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Preview ServiceNow Note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 Choose Observe or Close INC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5. Point to incident.closed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39C4D-9154-4255-BEEA-C07F4B35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6057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oter-12">
            <a:extLst xmlns:a="http://schemas.openxmlformats.org/drawingml/2006/main">
              <a:ext uri="{FF2B5EF4-FFF2-40B4-BE49-F238E27FC236}">
                <a16:creationId xmlns:a16="http://schemas.microsoft.com/office/drawing/2014/main" id="{504B42B3-A3BB-4D81-B113-CE9E8791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6daeb24c84328"/>
          <a:srcRect xmlns:a="http://schemas.openxmlformats.org/drawingml/2006/main" l="0" t="37974" r="0" b="37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847850"/>
            <a:ext cx="56769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53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E2A6052C-5F80-4173-A1C4-5AC704A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FCE8D4-E1F8-4D39-9549-20208FE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commands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A3914-6EA5-4625-B44D-2960AB38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these before any judged demo. They prove backend policy, dashboard behavior, build health, browser flow, and live OpenAI when configured.</a:t>
            </a:r>
          </a:p>
        </p:txBody>
      </p:sp>
      <p:sp>
        <p:nvSpPr>
          <p:cNvPr id="5" name="check-all-panel">
            <a:extLst xmlns:a="http://schemas.openxmlformats.org/drawingml/2006/main">
              <a:ext uri="{FF2B5EF4-FFF2-40B4-BE49-F238E27FC236}">
                <a16:creationId xmlns:a16="http://schemas.microsoft.com/office/drawing/2014/main" id="{D5B92621-C267-4489-B5F0-0174531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heck-all-label">
            <a:extLst xmlns:a="http://schemas.openxmlformats.org/drawingml/2006/main">
              <a:ext uri="{FF2B5EF4-FFF2-40B4-BE49-F238E27FC236}">
                <a16:creationId xmlns:a16="http://schemas.microsoft.com/office/drawing/2014/main" id="{8229E3CC-A11C-476F-B26F-5E894A7E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check-all</a:t>
            </a:r>
          </a:p>
        </p:txBody>
      </p:sp>
      <p:sp>
        <p:nvSpPr>
          <p:cNvPr id="7" name="check-all-body">
            <a:extLst xmlns:a="http://schemas.openxmlformats.org/drawingml/2006/main">
              <a:ext uri="{FF2B5EF4-FFF2-40B4-BE49-F238E27FC236}">
                <a16:creationId xmlns:a16="http://schemas.microsoft.com/office/drawing/2014/main" id="{816E97E7-4C03-477F-8743-95AE0DCE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pytest, lint, unit tests, and production build</a:t>
            </a:r>
          </a:p>
        </p:txBody>
      </p:sp>
      <p:sp>
        <p:nvSpPr>
          <p:cNvPr id="8" name="run-e2e-panel">
            <a:extLst xmlns:a="http://schemas.openxmlformats.org/drawingml/2006/main">
              <a:ext uri="{FF2B5EF4-FFF2-40B4-BE49-F238E27FC236}">
                <a16:creationId xmlns:a16="http://schemas.microsoft.com/office/drawing/2014/main" id="{A1FC596F-0D0F-4BE3-8F57-6D1314F7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un-e2e-label">
            <a:extLst xmlns:a="http://schemas.openxmlformats.org/drawingml/2006/main">
              <a:ext uri="{FF2B5EF4-FFF2-40B4-BE49-F238E27FC236}">
                <a16:creationId xmlns:a16="http://schemas.microsoft.com/office/drawing/2014/main" id="{D86EAF0D-F72B-43B5-937F-40251593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run-e2e</a:t>
            </a:r>
          </a:p>
        </p:txBody>
      </p:sp>
      <p:sp>
        <p:nvSpPr>
          <p:cNvPr id="10" name="run-e2e-body">
            <a:extLst xmlns:a="http://schemas.openxmlformats.org/drawingml/2006/main">
              <a:ext uri="{FF2B5EF4-FFF2-40B4-BE49-F238E27FC236}">
                <a16:creationId xmlns:a16="http://schemas.microsoft.com/office/drawing/2014/main" id="{25779B8E-AE97-4AE7-AFB4-A4F3CEE8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live start, approval, RCA, ServiceNow preview, deep-dive rendering</a:t>
            </a:r>
          </a:p>
        </p:txBody>
      </p:sp>
      <p:sp>
        <p:nvSpPr>
          <p:cNvPr id="11" name="verify-live-openai-panel">
            <a:extLst xmlns:a="http://schemas.openxmlformats.org/drawingml/2006/main">
              <a:ext uri="{FF2B5EF4-FFF2-40B4-BE49-F238E27FC236}">
                <a16:creationId xmlns:a16="http://schemas.microsoft.com/office/drawing/2014/main" id="{F545DB03-4091-4EF0-89C8-E8F460FD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verify-live-openai-label">
            <a:extLst xmlns:a="http://schemas.openxmlformats.org/drawingml/2006/main">
              <a:ext uri="{FF2B5EF4-FFF2-40B4-BE49-F238E27FC236}">
                <a16:creationId xmlns:a16="http://schemas.microsoft.com/office/drawing/2014/main" id="{869F3ADF-52E5-4900-9C7A-CE16CC2D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verify-live-openai</a:t>
            </a:r>
          </a:p>
        </p:txBody>
      </p:sp>
      <p:sp>
        <p:nvSpPr>
          <p:cNvPr id="13" name="verify-live-openai-body">
            <a:extLst xmlns:a="http://schemas.openxmlformats.org/drawingml/2006/main">
              <a:ext uri="{FF2B5EF4-FFF2-40B4-BE49-F238E27FC236}">
                <a16:creationId xmlns:a16="http://schemas.microsoft.com/office/drawing/2014/main" id="{2E55A54E-F076-41C0-AF1F-FB60C2BF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real Responses API path and no fallback</a:t>
            </a:r>
          </a:p>
        </p:txBody>
      </p:sp>
      <p:sp>
        <p:nvSpPr>
          <p:cNvPr id="14" name="Browser smoke-panel">
            <a:extLst xmlns:a="http://schemas.openxmlformats.org/drawingml/2006/main">
              <a:ext uri="{FF2B5EF4-FFF2-40B4-BE49-F238E27FC236}">
                <a16:creationId xmlns:a16="http://schemas.microsoft.com/office/drawing/2014/main" id="{958CBA4E-C028-4599-8417-27593B60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rowser smoke-label">
            <a:extLst xmlns:a="http://schemas.openxmlformats.org/drawingml/2006/main">
              <a:ext uri="{FF2B5EF4-FFF2-40B4-BE49-F238E27FC236}">
                <a16:creationId xmlns:a16="http://schemas.microsoft.com/office/drawing/2014/main" id="{0C173303-CBAA-4E45-9486-D3B08BC7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Browser smoke</a:t>
            </a:r>
          </a:p>
        </p:txBody>
      </p:sp>
      <p:sp>
        <p:nvSpPr>
          <p:cNvPr id="16" name="Browser smoke-body">
            <a:extLst xmlns:a="http://schemas.openxmlformats.org/drawingml/2006/main">
              <a:ext uri="{FF2B5EF4-FFF2-40B4-BE49-F238E27FC236}">
                <a16:creationId xmlns:a16="http://schemas.microsoft.com/office/drawing/2014/main" id="{DC4E423F-510C-4023-A9AD-76C4A087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actual click and state transitions in the UI</a:t>
            </a:r>
          </a:p>
        </p:txBody>
      </p:sp>
      <p:sp>
        <p:nvSpPr>
          <p:cNvPr id="17" name="footer-13">
            <a:extLst xmlns:a="http://schemas.openxmlformats.org/drawingml/2006/main">
              <a:ext uri="{FF2B5EF4-FFF2-40B4-BE49-F238E27FC236}">
                <a16:creationId xmlns:a16="http://schemas.microsoft.com/office/drawing/2014/main" id="{F57EA2EC-5CC4-4971-B7E3-F3EC694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9ADA9-FAE4-492E-AEA5-9C22CFE1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4953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90500" tIns="171450" rIns="190500" bIns="17145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.\scripts\check-all.cmd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.\scripts\run-e2e.cmd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.\scripts\verify-live-openai.cmd</a:t>
            </a:r>
          </a:p>
        </p:txBody>
      </p:sp>
    </p:spTree>
    <p:extLst>
      <p:ext uri="{BB962C8B-B14F-4D97-AF65-F5344CB8AC3E}">
        <p14:creationId xmlns:p14="http://schemas.microsoft.com/office/powerpoint/2010/main" val="1687507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A41B9329-37A2-4980-BAA1-35ACFF7E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89AC22-04CE-4A71-9416-5BCA4E81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replay vs local live</a:t>
            </a:r>
          </a:p>
        </p:txBody>
      </p:sp>
      <p:cxnSp>
        <p:nvCxnSpPr>
          <p:cNvPr id="19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FE2F1-F29A-4395-AA25-C222897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723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story clear: public GitHub Pages is replay-only; local live is where backend, WebSocket, OpenAI, and optional ServiceNow evidence run.</a:t>
            </a:r>
          </a:p>
        </p:txBody>
      </p:sp>
      <p:sp>
        <p:nvSpPr>
          <p:cNvPr id="5" name="Public Pages-panel">
            <a:extLst xmlns:a="http://schemas.openxmlformats.org/drawingml/2006/main">
              <a:ext uri="{FF2B5EF4-FFF2-40B4-BE49-F238E27FC236}">
                <a16:creationId xmlns:a16="http://schemas.microsoft.com/office/drawing/2014/main" id="{2B7C3F1B-7BF7-4245-85D7-C0613BB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ublic Pages-label">
            <a:extLst xmlns:a="http://schemas.openxmlformats.org/drawingml/2006/main">
              <a:ext uri="{FF2B5EF4-FFF2-40B4-BE49-F238E27FC236}">
                <a16:creationId xmlns:a16="http://schemas.microsoft.com/office/drawing/2014/main" id="{B969EA7B-B5A1-4DC0-9369-8D924546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Pages</a:t>
            </a:r>
          </a:p>
        </p:txBody>
      </p:sp>
      <p:sp>
        <p:nvSpPr>
          <p:cNvPr id="7" name="Public Pages-body">
            <a:extLst xmlns:a="http://schemas.openxmlformats.org/drawingml/2006/main">
              <a:ext uri="{FF2B5EF4-FFF2-40B4-BE49-F238E27FC236}">
                <a16:creationId xmlns:a16="http://schemas.microsoft.com/office/drawing/2014/main" id="{F421BE01-C4BE-4D6B-84E2-84EC154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009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Static dashboard build. No backend. No OpenAI key. Safe to share publicly.</a:t>
            </a:r>
          </a:p>
        </p:txBody>
      </p:sp>
      <p:sp>
        <p:nvSpPr>
          <p:cNvPr id="8" name="Local live-panel">
            <a:extLst xmlns:a="http://schemas.openxmlformats.org/drawingml/2006/main">
              <a:ext uri="{FF2B5EF4-FFF2-40B4-BE49-F238E27FC236}">
                <a16:creationId xmlns:a16="http://schemas.microsoft.com/office/drawing/2014/main" id="{F973C27D-3B70-46A9-8C92-2729DCF4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ocal live-label">
            <a:extLst xmlns:a="http://schemas.openxmlformats.org/drawingml/2006/main">
              <a:ext uri="{FF2B5EF4-FFF2-40B4-BE49-F238E27FC236}">
                <a16:creationId xmlns:a16="http://schemas.microsoft.com/office/drawing/2014/main" id="{D1DE06BB-73A6-4E77-B585-0A481B7D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live</a:t>
            </a:r>
          </a:p>
        </p:txBody>
      </p:sp>
      <p:sp>
        <p:nvSpPr>
          <p:cNvPr id="10" name="Local live-body">
            <a:extLst xmlns:a="http://schemas.openxmlformats.org/drawingml/2006/main">
              <a:ext uri="{FF2B5EF4-FFF2-40B4-BE49-F238E27FC236}">
                <a16:creationId xmlns:a16="http://schemas.microsoft.com/office/drawing/2014/main" id="{D4503BEF-1A2C-4657-89F2-2D1F5C5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3009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Backend on 8000, dashboard on 5173, deep-dive on 5174, OpenAI server-side.</a:t>
            </a:r>
          </a:p>
        </p:txBody>
      </p:sp>
      <p:sp>
        <p:nvSpPr>
          <p:cNvPr id="11" name="Judge console-panel">
            <a:extLst xmlns:a="http://schemas.openxmlformats.org/drawingml/2006/main">
              <a:ext uri="{FF2B5EF4-FFF2-40B4-BE49-F238E27FC236}">
                <a16:creationId xmlns:a16="http://schemas.microsoft.com/office/drawing/2014/main" id="{13C33455-6EB8-4432-9AFC-C81AB1AF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Judge console-label">
            <a:extLst xmlns:a="http://schemas.openxmlformats.org/drawingml/2006/main">
              <a:ext uri="{FF2B5EF4-FFF2-40B4-BE49-F238E27FC236}">
                <a16:creationId xmlns:a16="http://schemas.microsoft.com/office/drawing/2014/main" id="{4A0449C9-D59C-4D93-89BC-1937ACB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Judge console</a:t>
            </a:r>
          </a:p>
        </p:txBody>
      </p:sp>
      <p:sp>
        <p:nvSpPr>
          <p:cNvPr id="13" name="Judge console-body">
            <a:extLst xmlns:a="http://schemas.openxmlformats.org/drawingml/2006/main">
              <a:ext uri="{FF2B5EF4-FFF2-40B4-BE49-F238E27FC236}">
                <a16:creationId xmlns:a16="http://schemas.microsoft.com/office/drawing/2014/main" id="{E67560ED-AD9C-4716-9015-091A09A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009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Shows the real dashboard iframe beside live FastAPI JSON or labeled replay trace.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5C07B-7ECB-4D61-82EA-585EA409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82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footer-14">
            <a:extLst xmlns:a="http://schemas.openxmlformats.org/drawingml/2006/main">
              <a:ext uri="{FF2B5EF4-FFF2-40B4-BE49-F238E27FC236}">
                <a16:creationId xmlns:a16="http://schemas.microsoft.com/office/drawing/2014/main" id="{B527303D-AC0B-443D-9D0D-DC677705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6f5a0bc7f44c8"/>
          <a:srcRect xmlns:a="http://schemas.openxmlformats.org/drawingml/2006/main" l="0" t="37759" r="0" b="37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752600"/>
            <a:ext cx="3448050" cy="80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01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C39EB86C-B765-463E-90B6-40CF1D5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A78C46-AC22-405B-863E-EA6E62F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to 5 minute judge demo flow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3F88C-ECFD-48B8-A88B-51AE207B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0:00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0A9E9-9756-4C90-85FD-748158F9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Manual infra tickets are slow, and unsafe automation is worse.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77AA0-2525-427C-B014-F3B9108E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0:20 Trigger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23820-DE1C-4A56-8D31-EBCD4739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disk-space alert, show scenario coverage and portfolio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3B0BC-B0BE-481C-BA7C-09D43572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0:45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C580D-A669-4FB0-AFE8-0255A749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SOP retrieval, historical comparison, unsafe precedent warning.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9341-007C-4A1A-94B3-9F8D89BA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1:50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6F830-B164-4212-BCF8-13B6E2C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target, expected effect, safeguards, validation, and Live AI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35DFB-09CF-441C-B9AA-EF3E2CB5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29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2:30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8FFC3-A63A-43E7-AF40-A5F209DA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mock remediation. Emphasize policy gate and human control.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E343D-544F-4226-9C5B-D25C5B27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3:45 RCA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71F90-5795-4027-B0D6-BCBB6C1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RCA, audit export, ServiceNow Note preview, observe/close.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E03F0-5E41-4615-B9F8-AC3A41CB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845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Close with: this is not AI deletes files. It is policy-grounded, approval-gated remediation.</a:t>
            </a:r>
          </a:p>
        </p:txBody>
      </p:sp>
      <p:sp>
        <p:nvSpPr>
          <p:cNvPr id="17" name="footer-15">
            <a:extLst xmlns:a="http://schemas.openxmlformats.org/drawingml/2006/main">
              <a:ext uri="{FF2B5EF4-FFF2-40B4-BE49-F238E27FC236}">
                <a16:creationId xmlns:a16="http://schemas.microsoft.com/office/drawing/2014/main" id="{AEF6244C-79D2-4B75-BC2A-A802B60E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19858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96B48280-AC6E-4F8C-813F-B9AF063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631A49-140C-4842-BE1A-0795D9D6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Troubleshooting and Q&amp;A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Dashboard not loading-panel">
            <a:extLst xmlns:a="http://schemas.openxmlformats.org/drawingml/2006/main">
              <a:ext uri="{FF2B5EF4-FFF2-40B4-BE49-F238E27FC236}">
                <a16:creationId xmlns:a16="http://schemas.microsoft.com/office/drawing/2014/main" id="{6275C72B-9B7E-43DF-9DD9-41C73B0A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ashboard not loading-label">
            <a:extLst xmlns:a="http://schemas.openxmlformats.org/drawingml/2006/main">
              <a:ext uri="{FF2B5EF4-FFF2-40B4-BE49-F238E27FC236}">
                <a16:creationId xmlns:a16="http://schemas.microsoft.com/office/drawing/2014/main" id="{488570B3-EFB0-444C-AAD2-84D08981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Dashboard not loading</a:t>
            </a:r>
          </a:p>
        </p:txBody>
      </p:sp>
      <p:sp>
        <p:nvSpPr>
          <p:cNvPr id="6" name="Dashboard not loading-body">
            <a:extLst xmlns:a="http://schemas.openxmlformats.org/drawingml/2006/main">
              <a:ext uri="{FF2B5EF4-FFF2-40B4-BE49-F238E27FC236}">
                <a16:creationId xmlns:a16="http://schemas.microsoft.com/office/drawing/2014/main" id="{048414E3-BF7F-4EB8-8EC4-185700B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Run scripts\start-demo.cmd again. Check ports 8000, 5173, and 5174.</a:t>
            </a:r>
          </a:p>
        </p:txBody>
      </p:sp>
      <p:sp>
        <p:nvSpPr>
          <p:cNvPr id="7" name="OpenAI fallback-panel">
            <a:extLst xmlns:a="http://schemas.openxmlformats.org/drawingml/2006/main">
              <a:ext uri="{FF2B5EF4-FFF2-40B4-BE49-F238E27FC236}">
                <a16:creationId xmlns:a16="http://schemas.microsoft.com/office/drawing/2014/main" id="{AD51E00C-1EC0-4A7E-AC8C-2DF68CE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OpenAI fallback-label">
            <a:extLst xmlns:a="http://schemas.openxmlformats.org/drawingml/2006/main">
              <a:ext uri="{FF2B5EF4-FFF2-40B4-BE49-F238E27FC236}">
                <a16:creationId xmlns:a16="http://schemas.microsoft.com/office/drawing/2014/main" id="{703409AA-4E5B-4B62-9C04-1220C6B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 fallback</a:t>
            </a:r>
          </a:p>
        </p:txBody>
      </p:sp>
      <p:sp>
        <p:nvSpPr>
          <p:cNvPr id="9" name="OpenAI fallback-body">
            <a:extLst xmlns:a="http://schemas.openxmlformats.org/drawingml/2006/main">
              <a:ext uri="{FF2B5EF4-FFF2-40B4-BE49-F238E27FC236}">
                <a16:creationId xmlns:a16="http://schemas.microsoft.com/office/drawing/2014/main" id="{F4E88110-D831-4BD6-9906-B6100A4E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.env has OPENAI_API_KEY and run verify-live-openai.cmd. Fallback is expected without a key.</a:t>
            </a:r>
          </a:p>
        </p:txBody>
      </p:sp>
      <p:sp>
        <p:nvSpPr>
          <p:cNvPr id="10" name="ServiceNow disabled-panel">
            <a:extLst xmlns:a="http://schemas.openxmlformats.org/drawingml/2006/main">
              <a:ext uri="{FF2B5EF4-FFF2-40B4-BE49-F238E27FC236}">
                <a16:creationId xmlns:a16="http://schemas.microsoft.com/office/drawing/2014/main" id="{DEC07C51-4D89-4DD4-8ED1-4E173065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erviceNow disabled-label">
            <a:extLst xmlns:a="http://schemas.openxmlformats.org/drawingml/2006/main">
              <a:ext uri="{FF2B5EF4-FFF2-40B4-BE49-F238E27FC236}">
                <a16:creationId xmlns:a16="http://schemas.microsoft.com/office/drawing/2014/main" id="{BBB60C64-9F08-4EFE-AB00-F1B9F6CC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ServiceNow disabled</a:t>
            </a:r>
          </a:p>
        </p:txBody>
      </p:sp>
      <p:sp>
        <p:nvSpPr>
          <p:cNvPr id="12" name="ServiceNow disabled-body">
            <a:extLst xmlns:a="http://schemas.openxmlformats.org/drawingml/2006/main">
              <a:ext uri="{FF2B5EF4-FFF2-40B4-BE49-F238E27FC236}">
                <a16:creationId xmlns:a16="http://schemas.microsoft.com/office/drawing/2014/main" id="{38B75D56-1C4D-4F33-8FE0-937E82B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That is normal. Dry-run is the free demo mode. PDI write-back needs developer-instance credentials.</a:t>
            </a:r>
          </a:p>
        </p:txBody>
      </p:sp>
      <p:sp>
        <p:nvSpPr>
          <p:cNvPr id="13" name="Real execution question-panel">
            <a:extLst xmlns:a="http://schemas.openxmlformats.org/drawingml/2006/main">
              <a:ext uri="{FF2B5EF4-FFF2-40B4-BE49-F238E27FC236}">
                <a16:creationId xmlns:a16="http://schemas.microsoft.com/office/drawing/2014/main" id="{F901D9F5-4703-4909-A7D9-CAE16CA1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eal execution question-label">
            <a:extLst xmlns:a="http://schemas.openxmlformats.org/drawingml/2006/main">
              <a:ext uri="{FF2B5EF4-FFF2-40B4-BE49-F238E27FC236}">
                <a16:creationId xmlns:a16="http://schemas.microsoft.com/office/drawing/2014/main" id="{8E05AFA5-C854-4D46-AE22-5424008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execution question</a:t>
            </a:r>
          </a:p>
        </p:txBody>
      </p:sp>
      <p:sp>
        <p:nvSpPr>
          <p:cNvPr id="15" name="Real execution question-body">
            <a:extLst xmlns:a="http://schemas.openxmlformats.org/drawingml/2006/main">
              <a:ext uri="{FF2B5EF4-FFF2-40B4-BE49-F238E27FC236}">
                <a16:creationId xmlns:a16="http://schemas.microsoft.com/office/drawing/2014/main" id="{F099EBF5-CFE5-45EE-B604-5494CBD7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Say it is intentionally not implemented for the hackathon. Production connectors need change windows and guardrails.</a:t>
            </a:r>
          </a:p>
        </p:txBody>
      </p:sp>
      <p:sp>
        <p:nvSpPr>
          <p:cNvPr id="16" name="Public link question-panel">
            <a:extLst xmlns:a="http://schemas.openxmlformats.org/drawingml/2006/main">
              <a:ext uri="{FF2B5EF4-FFF2-40B4-BE49-F238E27FC236}">
                <a16:creationId xmlns:a16="http://schemas.microsoft.com/office/drawing/2014/main" id="{C16F2C82-2D3A-4DDA-A1F7-CA650E99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Public link question-label">
            <a:extLst xmlns:a="http://schemas.openxmlformats.org/drawingml/2006/main">
              <a:ext uri="{FF2B5EF4-FFF2-40B4-BE49-F238E27FC236}">
                <a16:creationId xmlns:a16="http://schemas.microsoft.com/office/drawing/2014/main" id="{2D6EB0DF-80A5-4CB1-B58A-583D83A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link question</a:t>
            </a:r>
          </a:p>
        </p:txBody>
      </p:sp>
      <p:sp>
        <p:nvSpPr>
          <p:cNvPr id="18" name="Public link question-body">
            <a:extLst xmlns:a="http://schemas.openxmlformats.org/drawingml/2006/main">
              <a:ext uri="{FF2B5EF4-FFF2-40B4-BE49-F238E27FC236}">
                <a16:creationId xmlns:a16="http://schemas.microsoft.com/office/drawing/2014/main" id="{65C07B02-97F5-4164-B52E-B0E88C8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Public Pages is replay-only. Show local live for real OpenAI proof.</a:t>
            </a:r>
          </a:p>
        </p:txBody>
      </p:sp>
      <p:sp>
        <p:nvSpPr>
          <p:cNvPr id="19" name="Evidence question-panel">
            <a:extLst xmlns:a="http://schemas.openxmlformats.org/drawingml/2006/main">
              <a:ext uri="{FF2B5EF4-FFF2-40B4-BE49-F238E27FC236}">
                <a16:creationId xmlns:a16="http://schemas.microsoft.com/office/drawing/2014/main" id="{A2A68A12-9DF4-4373-9D64-E9FDA73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Evidence question-label">
            <a:extLst xmlns:a="http://schemas.openxmlformats.org/drawingml/2006/main">
              <a:ext uri="{FF2B5EF4-FFF2-40B4-BE49-F238E27FC236}">
                <a16:creationId xmlns:a16="http://schemas.microsoft.com/office/drawing/2014/main" id="{E2E42E0A-2FAF-4A6C-8F54-886AB4E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question</a:t>
            </a:r>
          </a:p>
        </p:txBody>
      </p:sp>
      <p:sp>
        <p:nvSpPr>
          <p:cNvPr id="21" name="Evidence question-body">
            <a:extLst xmlns:a="http://schemas.openxmlformats.org/drawingml/2006/main">
              <a:ext uri="{FF2B5EF4-FFF2-40B4-BE49-F238E27FC236}">
                <a16:creationId xmlns:a16="http://schemas.microsoft.com/office/drawing/2014/main" id="{E8BB8F07-F9F0-4C30-99BA-E6CE469E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Use deep-dive JSON cards, audit packet, PDF report, E2E proof, and screenshots.</a:t>
            </a:r>
          </a:p>
        </p:txBody>
      </p:sp>
      <p:sp>
        <p:nvSpPr>
          <p:cNvPr id="22" name="footer-16">
            <a:extLst xmlns:a="http://schemas.openxmlformats.org/drawingml/2006/main">
              <a:ext uri="{FF2B5EF4-FFF2-40B4-BE49-F238E27FC236}">
                <a16:creationId xmlns:a16="http://schemas.microsoft.com/office/drawing/2014/main" id="{C485324C-A2EF-4801-859F-4C22ED0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73242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0E7E3826-46C9-48E8-93E8-0C77B452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AAAEE7-B488-42B3-98D0-05FCC0A1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Final operator checklist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2A9D4-566A-4F79-8A01-DBD3F3D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5EAE7-2D88-4906-8E99-89644C09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4000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Pull latest code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Copy .env only for local live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Run check-all and E2E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Run live OpenAI verification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Launch start-demo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93ABA-2A5C-4741-813C-61DED374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During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A62DB-F44D-4B10-A7F7-7C658B6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4000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Start from alert dashboard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Use disk-space incident first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Show SOP beats history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Approve mock remediation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Export audit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F33E4-048A-4D27-9100-680509D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42B9E-4C59-4A1B-A2DE-02A70C6A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2857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accelerates triage and planning, while the product keeps policy, approval, validation, and audit ownership in deterministic backend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F4DA3-F220-48D0-A34C-6FED0079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2DB5A-A4DD-4024-8FFF-E297AE76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Synthetic-only. Mock-only. Approval-gated. Audit-ready.</a:t>
            </a:r>
          </a:p>
        </p:txBody>
      </p:sp>
      <p:sp>
        <p:nvSpPr>
          <p:cNvPr id="12" name="footer-17">
            <a:extLst xmlns:a="http://schemas.openxmlformats.org/drawingml/2006/main">
              <a:ext uri="{FF2B5EF4-FFF2-40B4-BE49-F238E27FC236}">
                <a16:creationId xmlns:a16="http://schemas.microsoft.com/office/drawing/2014/main" id="{96AC3EA7-2B16-48F3-BF2F-9A70876A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0280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2026-06-28T04:14:09.6810000Z</dcterms:created>
  <dcterms:modified xsi:type="dcterms:W3CDTF">2026-06-28T04:14:09.6810000Z</dcterms:modified>
</coreProperties>
</file>